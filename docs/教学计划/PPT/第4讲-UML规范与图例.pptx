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第四讲：UML 规范与图例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统一建模语言详解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从图形界面到标准建模</a:t>
            </a:r>
          </a:p>
          <a:p>
            <a:pPr lvl="0" indent="0" marL="0">
              <a:buNone/>
            </a:pPr>
            <a:r>
              <a:rPr b="1"/>
              <a:t>80分钟 | 两节课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UML的来龙去脉（10分钟）</a:t>
            </a:r>
          </a:p>
          <a:p>
            <a:pPr lvl="0" indent="-342900" marL="342900">
              <a:buAutoNum type="arabicPeriod"/>
            </a:pPr>
            <a:r>
              <a:rPr/>
              <a:t>UML图的分类（5分钟）</a:t>
            </a:r>
          </a:p>
          <a:p>
            <a:pPr lvl="0" indent="-342900" marL="342900">
              <a:buAutoNum type="arabicPeriod"/>
            </a:pPr>
            <a:r>
              <a:rPr/>
              <a:t>功能建模：用例图（15分钟）</a:t>
            </a:r>
          </a:p>
          <a:p>
            <a:pPr lvl="0" indent="-342900" marL="342900">
              <a:buAutoNum type="arabicPeriod"/>
            </a:pPr>
            <a:r>
              <a:rPr/>
              <a:t>静态结构建模：类图与对象图（15分钟）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动态行为建模（25分钟）</a:t>
            </a:r>
          </a:p>
          <a:p>
            <a:pPr lvl="0" indent="-342900" marL="342900">
              <a:buAutoNum startAt="5" type="arabicPeriod"/>
            </a:pPr>
            <a:r>
              <a:rPr/>
              <a:t>物理视图：组件图与部署图（10分钟）</a:t>
            </a:r>
          </a:p>
          <a:p>
            <a:pPr lvl="0" indent="-342900" marL="342900">
              <a:buAutoNum startAt="5" type="arabicPeriod"/>
            </a:pPr>
            <a:r>
              <a:rPr/>
              <a:t>如何选择合适的UML图（5分钟）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UML的来龙去脉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面向对象方法的百花齐放（1980s-1990s）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三大主流方法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创始人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Booch方法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Grady Booch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强调类和对象的设计，擅长架构表示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OMT方法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James Rumbaugh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三个视角建模（对象、动态、功能模型）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OOSE方法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Ivar Jacobson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引入用例描述功能需求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问题</a:t>
            </a:r>
          </a:p>
          <a:p>
            <a:pPr lvl="0"/>
            <a:r>
              <a:rPr/>
              <a:t>每种方法有自己的符号和过程</a:t>
            </a:r>
          </a:p>
          <a:p>
            <a:pPr lvl="0"/>
            <a:r>
              <a:rPr/>
              <a:t>团队沟通困难</a:t>
            </a:r>
          </a:p>
          <a:p>
            <a:pPr lvl="0"/>
            <a:r>
              <a:rPr/>
              <a:t>工具互不兼容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三友联合：UML的诞生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1994年</a:t>
            </a:r>
          </a:p>
          <a:p>
            <a:pPr lvl="0" indent="0" marL="0">
              <a:buNone/>
            </a:pPr>
            <a:r>
              <a:rPr/>
              <a:t>Booch、Rumbaugh、Jacobson 三人携手加入 Rational 公司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融合</a:t>
            </a:r>
          </a:p>
          <a:p>
            <a:pPr lvl="0"/>
            <a:r>
              <a:rPr/>
              <a:t>Booch 的类图和对象图</a:t>
            </a:r>
          </a:p>
          <a:p>
            <a:pPr lvl="0"/>
            <a:r>
              <a:rPr/>
              <a:t>OMT 的对象模型、动态模型</a:t>
            </a:r>
          </a:p>
          <a:p>
            <a:pPr lvl="0"/>
            <a:r>
              <a:rPr/>
              <a:t>OOSE 的用例图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里程碑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1.0 提交给 OMG，成为业界标准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2.0 发布，扩展图的数量和精确性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UML的定位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不是方法学，而是建模语言</a:t>
            </a:r>
          </a:p>
          <a:p>
            <a:pPr lvl="0"/>
            <a:r>
              <a:rPr/>
              <a:t>可以与任何过程（统一过程、敏捷开发）结合使用</a:t>
            </a:r>
          </a:p>
          <a:p>
            <a:pPr lvl="0"/>
            <a:r>
              <a:rPr b="1"/>
              <a:t>目标</a:t>
            </a:r>
            <a:r>
              <a:rPr/>
              <a:t>：可视化、规范化、文档化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核心价值</a:t>
            </a:r>
          </a:p>
          <a:p>
            <a:pPr lvl="0"/>
            <a:r>
              <a:rPr/>
              <a:t>统一沟通语言，降低歧义</a:t>
            </a:r>
          </a:p>
          <a:p>
            <a:pPr lvl="0"/>
            <a:r>
              <a:rPr/>
              <a:t>支持从分析到设计的完整建模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UML图的分类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视角与图类型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1879600"/>
                <a:gridCol w="3530600"/>
                <a:gridCol w="140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视角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对应结构化方法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作用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功能建模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DFD顶层图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描述系统功能，识别参与者与用例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类图、对象图、包图、组件图、部署图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ER图、模块结构图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描述系统的静态组成和关系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活动图、状态图、顺序图、通信图、时间图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流程图、状态图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描述系统的动态交互和状态变化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关键区别</a:t>
            </a:r>
          </a:p>
          <a:p>
            <a:pPr lvl="0"/>
            <a:r>
              <a:rPr b="1"/>
              <a:t>结构化方法</a:t>
            </a:r>
            <a:r>
              <a:rPr/>
              <a:t>：用不同图分别描述功能、数据、流程</a:t>
            </a:r>
          </a:p>
          <a:p>
            <a:pPr lvl="0"/>
            <a:r>
              <a:rPr b="1"/>
              <a:t>UML</a:t>
            </a:r>
            <a:r>
              <a:rPr/>
              <a:t>：以对象为中心，所有图都围绕对象展开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功能建模：用例图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什么是用例图？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描述系统外部参与者与系统提供的功能之间的交互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与系统交互的人、硬件或其他系统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椭圆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系统对外提供的完整功能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系统边界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矩形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用矩形框表示系统范围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用例图的作用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捕获功能需求</a:t>
            </a:r>
            <a:r>
              <a:rPr/>
              <a:t>：站在用户视角看系统做什么</a:t>
            </a:r>
          </a:p>
          <a:p>
            <a:pPr lvl="0"/>
            <a:r>
              <a:rPr b="1"/>
              <a:t>界定系统边界</a:t>
            </a:r>
            <a:r>
              <a:rPr/>
              <a:t>：明确哪些功能属于系统</a:t>
            </a:r>
          </a:p>
          <a:p>
            <a:pPr lvl="0"/>
            <a:r>
              <a:rPr b="1"/>
              <a:t>沟通工具</a:t>
            </a:r>
            <a:r>
              <a:rPr/>
              <a:t>：与用户、客户确认需求，直观易懂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用例图示例：图书借阅系统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 case
left to right direction
actor 学生
actor 教师
actor 管理员
rectangle 图书管理系统 {
    usecase 登录
    usecase 查询图书
    usecase 借书
    usecase 还书
    usecase 预约图书
    usecase 管理图书
    学生 --&gt; 登录
    学生 --&gt; 查询图书
    学生 --&gt; 借书
    学生 --&gt; 还书
    学生 --&gt; 预约图书
    教师 --&gt; 登录
    教师 --&gt; 查询图书
    教师 --&gt; 借书
    教师 --&gt; 还书
    教师 --&gt; 预约图书
    管理员 --&gt; 登录
    管理员 --&gt; 管理图书
    借书 ..&gt; 查询图书 : &lt;&lt;include&gt;&gt;
    还书 ..&gt; 查询图书 : &lt;&lt;include&gt;&gt;
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用例关系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必须执行子功能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扩展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可选或条件触发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泛化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参与者或用例间的继承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静态结构建模：类图与对象图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类图（Class Diagram）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描述系统中类的定义以及类之间的关系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类包含</a:t>
            </a:r>
          </a:p>
          <a:p>
            <a:pPr lvl="0"/>
            <a:r>
              <a:rPr b="1"/>
              <a:t>类名</a:t>
            </a:r>
          </a:p>
          <a:p>
            <a:pPr lvl="0"/>
            <a:r>
              <a:rPr b="1"/>
              <a:t>属性</a:t>
            </a:r>
            <a:r>
              <a:rPr/>
              <a:t>（可见性、名称、类型）</a:t>
            </a:r>
          </a:p>
          <a:p>
            <a:pPr lvl="0"/>
            <a:r>
              <a:rPr b="1"/>
              <a:t>方法</a:t>
            </a:r>
            <a:r>
              <a:rPr/>
              <a:t>（可见性、名称、参数、返回类型）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关系类型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&lt;\|--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&lt;\|..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can-do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--&gt;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.--&gt;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◇--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 (可分离)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◆--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 (不可分)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类图示例：图书借阅系统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classDiagram
    class User {
        -id: String
        -name: String
        +borrow_limit(): u32
        +can_borrow(): bool
    }
    class Student {
        -student_id: String
        +borrow_limit(): u32
    }
    class Teacher {
        -teacher_id: String
        -department: String
        +borrow_limit(): u32
    }
    class Book {
        -isbn: String
        -title: String
        -author: String
        -available: bool
        +borrow()
        +return_book()
    }
    class BorrowRecord {
        -id: String
        -borrowDate: Date
        -dueDate: Date
        -returnDate: Date
        +is_overdue(): bool
        +calculate_fine()
    }
    User &lt;|-- Student
    User &lt;|-- Teacher
    User "1" --&gt; "*" BorrowRecord : creates
    Book "1" --&gt; "*" BorrowRecord : involved in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对象图（Object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/>
            <a:r>
              <a:rPr/>
              <a:t>类图的实例</a:t>
            </a:r>
          </a:p>
          <a:p>
            <a:pPr lvl="0"/>
            <a:r>
              <a:rPr/>
              <a:t>展示系统在某一时刻的具体对象快照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作用</a:t>
            </a:r>
          </a:p>
          <a:p>
            <a:pPr lvl="0"/>
            <a:r>
              <a:rPr/>
              <a:t>验证类图的合理性</a:t>
            </a:r>
          </a:p>
          <a:p>
            <a:pPr lvl="0"/>
            <a:r>
              <a:rPr/>
              <a:t>帮助理解复杂的数据结构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包图（Package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用于组织类或其他模型元素，展示包之间的依赖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图书借阅系统包图</a:t>
            </a:r>
          </a:p>
          <a:p>
            <a:pPr lvl="0" indent="0">
              <a:buNone/>
            </a:pPr>
            <a:r>
              <a:rPr>
                <a:latin typeface="Courier"/>
              </a:rPr>
              <a:t>[models] → [services] → [repositories] → [db]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课间休息（5分钟）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动态行为建模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5.1 活动图（Activity Diagram）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描述业务流程或算法步骤，强调控制流和数据流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起始/终止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● / 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圆角矩形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决策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菱形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并发分叉/汇合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粗横线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活动图示例：借书流程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TD
    A([开始]) --&gt; B[验证用户身份]
    B --&gt; C{用户可借?}
    C --&gt;|否| D[提示不可借]
    D --&gt; Z([结束])
    C --&gt;|是| E[检查图书可借]
    E --&gt; F{图书可借?}
    F --&gt;|否| G[提示不可借]
    G --&gt; Z
    F --&gt;|是| H[创建借阅记录]
    H --&gt; I[更新图书状态]
    I --&gt; J[显示借书成功]
    J --&gt; Z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5.3 状态图（State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描述单个对象在其生命周期中的状态变化及触发事件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 b="1"/>
              <a:t>状态</a:t>
            </a:r>
            <a:r>
              <a:rPr/>
              <a:t>：圆角矩形</a:t>
            </a:r>
          </a:p>
          <a:p>
            <a:pPr lvl="0"/>
            <a:r>
              <a:rPr b="1"/>
              <a:t>初始/终止状态</a:t>
            </a:r>
            <a:r>
              <a:rPr/>
              <a:t>：● / ◎</a:t>
            </a:r>
          </a:p>
          <a:p>
            <a:pPr lvl="0"/>
            <a:r>
              <a:rPr b="1"/>
              <a:t>转换</a:t>
            </a:r>
            <a:r>
              <a:rPr/>
              <a:t>：带事件/条件的箭头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图书状态图</a:t>
            </a:r>
          </a:p>
          <a:p>
            <a:pPr lvl="0" indent="0">
              <a:buNone/>
            </a:pPr>
            <a:r>
              <a:rPr>
                <a:latin typeface="Courier"/>
              </a:rPr>
              <a:t>[可借] ──借出──&gt; [已借出]
[已借出] ──归还──&gt; [可借]
[可借] ──下架──&gt; [报废]
[已借出] ──丢失──&gt; [遗失处理]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5.4 顺序图（Sequence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描述对象间消息交互的时间顺序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对象生命线</a:t>
            </a:r>
          </a:p>
          <a:p>
            <a:pPr lvl="0"/>
            <a:r>
              <a:rPr/>
              <a:t>激活条</a:t>
            </a:r>
          </a:p>
          <a:p>
            <a:pPr lvl="0"/>
            <a:r>
              <a:rPr/>
              <a:t>消息（同步、异步、返回）</a:t>
            </a:r>
          </a:p>
          <a:p>
            <a:pPr lvl="0"/>
            <a:r>
              <a:rPr/>
              <a:t>组合片段（alt、opt、loop、par）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顺序图示例：借书流程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sequenceDiagram
    participant S as 学生
    participant L as 借阅服务
    participant U as 用户仓储
    participant B as 图书仓储
    participant R as 借阅记录
    S-&gt;&gt;L: 借书(用户ID, ISBN)
    L-&gt;&gt;U: 查找用户(ID)
    U--&gt;&gt;L: 用户对象
    L-&gt;&gt;B: 查找图书(ISBN)
    B--&gt;&gt;L: 图书对象
    L-&gt;&gt;L: 验证可借性
    alt 验证通过
        L-&gt;&gt;R: 创建借阅记录
        L-&gt;&gt;B: 更新图书状态
        L--&gt;&gt;S: 借书成功
    else 验证失败
        L--&gt;&gt;S: 借书失败(原因)
    end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通信图（Communication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与顺序图等价，但强调对象间的结构关系（用编号表示消息顺序）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作用</a:t>
            </a:r>
          </a:p>
          <a:p>
            <a:pPr lvl="0"/>
            <a:r>
              <a:rPr/>
              <a:t>展示对象连接和消息传递</a:t>
            </a:r>
          </a:p>
          <a:p>
            <a:pPr lvl="0"/>
            <a:r>
              <a:rPr/>
              <a:t>适合理解对象协作的结构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6: 物理视图：组件图与部署图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组件图（Component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描述软件组件的结构及依赖关系（组件是物理模块，如 JAR、DLL、微服务）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组件（带接口）</a:t>
            </a:r>
          </a:p>
          <a:p>
            <a:pPr lvl="0"/>
            <a:r>
              <a:rPr/>
              <a:t>接口（提供/依赖）</a:t>
            </a:r>
          </a:p>
          <a:p>
            <a:pPr lvl="0"/>
            <a:r>
              <a:rPr/>
              <a:t>依赖关系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图书借阅系统组件图</a:t>
            </a:r>
          </a:p>
          <a:p>
            <a:pPr lvl="0" indent="0">
              <a:buNone/>
            </a:pPr>
            <a:r>
              <a:rPr>
                <a:latin typeface="Courier"/>
              </a:rPr>
              <a:t>[借阅服务] → [用户服务] → [数据库接口]
[借阅服务] → [图书服务]
[图书服务] → [数据库接口]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部署图（Deployment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描述软件制品在硬件节点上的部署情况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节点（服务器、设备）</a:t>
            </a:r>
          </a:p>
          <a:p>
            <a:pPr lvl="0"/>
            <a:r>
              <a:rPr/>
              <a:t>制品（可执行文件、数据库）</a:t>
            </a:r>
          </a:p>
          <a:p>
            <a:pPr lvl="0"/>
            <a:r>
              <a:rPr/>
              <a:t>通信路径（协议、端口）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图书借阅系统部署图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┌──────────┐        HTTP        ┌────────────┐
│ 浏览器   │ ────────────────▶ │ 应用服务器 │
└──────────┘                   └────────────┘
                                      │
                                ┌─────┴─────┐
                                │            │
                          ┌─────┴─────┐ ┌───┴────┐
                          │ MySQL     │ │ Redis  │
                          └───────────┘ └────────┘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7: 如何选择合适的UML图？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选择指南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你要表达什么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推荐图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系统有什么功能？谁来用？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有哪些业务概念？它们的关系？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类图（概念层）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业务流程是怎样的？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对象有哪些状态？如何转换？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OOA/OOD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具体某个功能如何由对象协作完成？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顺序图、通信图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类的详细设计（属性、方法）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类图（设计层）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系统模块如何划分？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包图、组件图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架构设计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系统如何部署？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部署设计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关键思想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不要试图画全所有图</a:t>
            </a:r>
            <a:r>
              <a:rPr/>
              <a:t>，根据需要选择</a:t>
            </a:r>
          </a:p>
          <a:p>
            <a:pPr lvl="0"/>
            <a:r>
              <a:rPr b="1"/>
              <a:t>不同图从不同视角描述系统</a:t>
            </a:r>
            <a:r>
              <a:rPr/>
              <a:t>，互相补充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课堂小结（5分钟）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核心要点回顾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UML的由来</a:t>
            </a:r>
            <a:r>
              <a:rPr/>
              <a:t>：统一三大面向对象方法（Booch、OMT、OOSE），成为工业标准</a:t>
            </a:r>
          </a:p>
          <a:p>
            <a:pPr lvl="0" indent="-342900" marL="342900">
              <a:buAutoNum type="arabicPeriod"/>
            </a:pPr>
            <a:r>
              <a:rPr b="1"/>
              <a:t>UML图的分类</a:t>
            </a:r>
            <a:r>
              <a:rPr/>
              <a:t>：</a:t>
            </a:r>
          </a:p>
          <a:p>
            <a:pPr lvl="1"/>
            <a:r>
              <a:rPr/>
              <a:t>功能建模：用例图</a:t>
            </a:r>
          </a:p>
          <a:p>
            <a:pPr lvl="1"/>
            <a:r>
              <a:rPr/>
              <a:t>静态结构：类图、对象图、包图、组件图、部署图</a:t>
            </a:r>
          </a:p>
          <a:p>
            <a:pPr lvl="1"/>
            <a:r>
              <a:rPr/>
              <a:t>动态行为：活动图、状态图、顺序图、通信图、时间图</a:t>
            </a:r>
          </a:p>
          <a:p>
            <a:pPr lvl="0" indent="-342900" marL="342900">
              <a:buAutoNum type="arabicPeriod"/>
            </a:pPr>
            <a:r>
              <a:rPr b="1"/>
              <a:t>每种图的用途</a:t>
            </a:r>
            <a:r>
              <a:rPr/>
              <a:t>：</a:t>
            </a:r>
          </a:p>
          <a:p>
            <a:pPr lvl="1"/>
            <a:r>
              <a:rPr/>
              <a:t>用例图：捕获需求</a:t>
            </a:r>
          </a:p>
          <a:p>
            <a:pPr lvl="1"/>
            <a:r>
              <a:rPr/>
              <a:t>类图：定义对象结构</a:t>
            </a:r>
          </a:p>
          <a:p>
            <a:pPr lvl="1"/>
            <a:r>
              <a:rPr/>
              <a:t>活动图：描述流程</a:t>
            </a:r>
          </a:p>
          <a:p>
            <a:pPr lvl="1"/>
            <a:r>
              <a:rPr/>
              <a:t>状态图：描述生命周期</a:t>
            </a:r>
          </a:p>
          <a:p>
            <a:pPr lvl="1"/>
            <a:r>
              <a:rPr/>
              <a:t>顺序图：描述交互时序</a:t>
            </a:r>
          </a:p>
          <a:p>
            <a:pPr lvl="1"/>
            <a:r>
              <a:rPr/>
              <a:t>组件/部署图：描述物理架构</a:t>
            </a:r>
          </a:p>
          <a:p>
            <a:pPr lvl="0" indent="-342900" marL="342900">
              <a:buAutoNum type="arabicPeriod"/>
            </a:pPr>
            <a:r>
              <a:rPr b="1"/>
              <a:t>UML支持OOA/OOD</a:t>
            </a:r>
            <a:r>
              <a:rPr/>
              <a:t>：从用例到类再到交互，完整覆盖分析设计全过程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下节预告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第五讲</a:t>
            </a:r>
            <a:r>
              <a:rPr/>
              <a:t>：架构设计原理 —— 将UML图应用于系统架构设计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2026-03-15T16:34:15Z</dcterms:created>
  <dcterms:modified xsi:type="dcterms:W3CDTF">2026-03-15T16:34:15Z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
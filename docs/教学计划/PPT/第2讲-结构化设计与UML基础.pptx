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第2</a:t>
            </a:r>
          </a:p>
          <a:p>
            <a:r>
              <a:t>结构化设计与UML基础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**结构化设计方法**（25分钟）</a:t>
            </a:r>
          </a:p>
          <a:p>
            <a:pPr/>
            <a:r>
              <a:t>2. **UML概述**（25分钟）</a:t>
            </a:r>
          </a:p>
          <a:p>
            <a:pPr/>
            <a:r>
              <a:t>3. **用例图**（25分钟）</a:t>
            </a:r>
          </a:p>
          <a:p>
            <a:pPr/>
            <a:r>
              <a:t>4. **实践练习**（15分钟）</a:t>
            </a:r>
          </a:p>
          <a:p>
            <a:pPr/>
            <a:r>
              <a:t>---</a:t>
            </a:r>
          </a:p>
          <a:p>
            <a:pPr/>
            <a:r>
              <a:t># Part 1: 结构化设计方法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结构化设计的历史背景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1960-1970年代的软件危机</a:t>
            </a:r>
          </a:p>
          <a:p>
            <a:pPr/>
            <a:r>
              <a:t>- 项目复杂度急剧增加</a:t>
            </a:r>
          </a:p>
          <a:p>
            <a:pPr/>
            <a:r>
              <a:t>- 代码难以理解和维护</a:t>
            </a:r>
          </a:p>
          <a:p>
            <a:pPr/>
            <a:r>
              <a:t>- 缺乏系统化的设计方法</a:t>
            </a:r>
          </a:p>
          <a:p>
            <a:pPr/>
            <a:r>
              <a:t>### Dijkstra的贡献</a:t>
            </a:r>
          </a:p>
          <a:p>
            <a:pPr/>
            <a:r>
              <a:t>- **"Go To Statement Considered Harmful"**（1968）</a:t>
            </a:r>
          </a:p>
          <a:p>
            <a:pPr/>
            <a:r>
              <a:t>- 提出结构化编程的概念</a:t>
            </a:r>
          </a:p>
          <a:p>
            <a:pPr/>
            <a:r>
              <a:t>- 奠定了现代软件工程的基础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核心思想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自顶向下、逐步求精</a:t>
            </a:r>
          </a:p>
          <a:p>
            <a:pPr/>
            <a:r>
              <a:t>```</a:t>
            </a:r>
          </a:p>
          <a:p>
            <a:pPr/>
            <a:r>
              <a:t>问题</a:t>
            </a:r>
          </a:p>
          <a:p>
            <a:pPr/>
            <a:r>
              <a:t>├─ 子问题1</a:t>
            </a:r>
          </a:p>
          <a:p>
            <a:pPr/>
            <a:r>
              <a:t>│   ├─ 子问题1.1</a:t>
            </a:r>
          </a:p>
          <a:p>
            <a:pPr/>
            <a:r>
              <a:t>│   └─ 子问题1.2</a:t>
            </a:r>
          </a:p>
          <a:p>
            <a:pPr/>
            <a:r>
              <a:t>├─ 子问题2</a:t>
            </a:r>
          </a:p>
          <a:p>
            <a:pPr/>
            <a:r>
              <a:t>│   ├─ 子问题2.1</a:t>
            </a:r>
          </a:p>
          <a:p>
            <a:pPr/>
            <a:r>
              <a:t>│   └─ 子问题2.2</a:t>
            </a:r>
          </a:p>
          <a:p>
            <a:pPr/>
            <a:r>
              <a:t>└─ 子问题3</a:t>
            </a:r>
          </a:p>
          <a:p>
            <a:pPr/>
            <a:r>
              <a:t>```</a:t>
            </a:r>
          </a:p>
          <a:p>
            <a:pPr/>
            <a:r>
              <a:t>### 模块化设计原则</a:t>
            </a:r>
          </a:p>
          <a:p>
            <a:pPr/>
            <a:r>
              <a:t>- **高内聚、低耦合**</a:t>
            </a:r>
          </a:p>
          <a:p>
            <a:pPr/>
            <a:r>
              <a:t>- **信息隐藏**</a:t>
            </a:r>
          </a:p>
          <a:p>
            <a:pPr/>
            <a:r>
              <a:t>- **模块独立性**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结构化分析与设计工具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数据流图（DFD）</a:t>
            </a:r>
          </a:p>
          <a:p>
            <a:pPr/>
            <a:r>
              <a:t>```</a:t>
            </a:r>
          </a:p>
          <a:p>
            <a:pPr/>
            <a:r>
              <a:t>┌─────────┐      ┌─────────┐      ┌─────────┐</a:t>
            </a:r>
          </a:p>
          <a:p>
            <a:pPr/>
            <a:r>
              <a:t>│ 外部实体 │ ---&gt; │ 处理过程 │ ---&gt; │ 数据存储 │</a:t>
            </a:r>
          </a:p>
          <a:p>
            <a:pPr/>
            <a:r>
              <a:t>└─────────┘      └─────────┘      └─────────┘</a:t>
            </a:r>
          </a:p>
          <a:p>
            <a:pPr/>
            <a:r>
              <a:t>│                │</a:t>
            </a:r>
          </a:p>
          <a:p>
            <a:pPr/>
            <a:r>
              <a:t>└────────────────┘</a:t>
            </a:r>
          </a:p>
          <a:p>
            <a:pPr/>
            <a:r>
              <a:t>数据流</a:t>
            </a:r>
          </a:p>
          <a:p>
            <a:pPr/>
            <a:r>
              <a:t>```</a:t>
            </a:r>
          </a:p>
          <a:p>
            <a:pPr/>
            <a:r>
              <a:t>### 数据字典</a:t>
            </a:r>
          </a:p>
          <a:p>
            <a:pPr/>
            <a:r>
              <a:t>- 定义数据元素的含义</a:t>
            </a:r>
          </a:p>
          <a:p>
            <a:pPr/>
            <a:r>
              <a:t>- 规范数据格式和约束</a:t>
            </a:r>
          </a:p>
          <a:p>
            <a:pPr/>
            <a:r>
              <a:t>### 结构图</a:t>
            </a:r>
          </a:p>
          <a:p>
            <a:pPr/>
            <a:r>
              <a:t>- 描述模块之间的调用关系</a:t>
            </a:r>
          </a:p>
          <a:p>
            <a:pPr/>
            <a:r>
              <a:t>- 展示系统层次结构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1.4 结构化设计的优缺点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优点</a:t>
            </a:r>
          </a:p>
          <a:p>
            <a:pPr/>
            <a:r>
              <a:t>- ✅ **清晰**：层次分明，易于理解</a:t>
            </a:r>
          </a:p>
          <a:p>
            <a:pPr/>
            <a:r>
              <a:t>- ✅ **系统**：有完整的方法论支持</a:t>
            </a:r>
          </a:p>
          <a:p>
            <a:pPr/>
            <a:r>
              <a:t>- ✅ **可追溯**：从需求到设计有清晰的映射</a:t>
            </a:r>
          </a:p>
          <a:p>
            <a:pPr/>
            <a:r>
              <a:t>### 缺点</a:t>
            </a:r>
          </a:p>
          <a:p>
            <a:pPr/>
            <a:r>
              <a:t>- ⚠️ **刚性**：难以应对需求变化</a:t>
            </a:r>
          </a:p>
          <a:p>
            <a:pPr/>
            <a:r>
              <a:t>- ⚠️ **不适应变化**：修改成本高</a:t>
            </a:r>
          </a:p>
          <a:p>
            <a:pPr/>
            <a:r>
              <a:t>### 对AI辅助开发的启示</a:t>
            </a:r>
          </a:p>
          <a:p>
            <a:pPr/>
            <a:r>
              <a:t>- 结构化思维有助于提示词设计</a:t>
            </a:r>
          </a:p>
          <a:p>
            <a:pPr/>
            <a:r>
              <a:t>- 分层分解有助于模块化开发</a:t>
            </a:r>
          </a:p>
          <a:p>
            <a:pPr/>
            <a:r>
              <a:t>- AI可以辅助生成DFD、结构图等</a:t>
            </a:r>
          </a:p>
          <a:p>
            <a:pPr/>
            <a:r>
              <a:t>---</a:t>
            </a:r>
          </a:p>
          <a:p>
            <a:pPr/>
            <a:r>
              <a:t># Part 2: UML概述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UML的历史和发展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面向对象方法论的统一</a:t>
            </a:r>
          </a:p>
          <a:p>
            <a:pPr/>
            <a:r>
              <a:t>- **1990年代**：多种OO方法并存</a:t>
            </a:r>
          </a:p>
          <a:p>
            <a:pPr/>
            <a:r>
              <a:t>- **1997年**：UML 1.0发布</a:t>
            </a:r>
          </a:p>
          <a:p>
            <a:pPr/>
            <a:r>
              <a:t>- **2005年**：UML 2.0发布</a:t>
            </a:r>
          </a:p>
          <a:p>
            <a:pPr/>
            <a:r>
              <a:t>### UML在软件工程中的地位</a:t>
            </a:r>
          </a:p>
          <a:p>
            <a:pPr/>
            <a:r>
              <a:t>- **标准化**：国际标准建模语言</a:t>
            </a:r>
          </a:p>
          <a:p>
            <a:pPr/>
            <a:r>
              <a:t>- **通用性**：适用于各种软件开发</a:t>
            </a:r>
          </a:p>
          <a:p>
            <a:pPr/>
            <a:r>
              <a:t>- **可视化**：图形化表示系统结构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UML 2.0 分类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结构图（Structure Diagrams）</a:t>
            </a:r>
          </a:p>
          <a:p>
            <a:pPr/>
            <a:r>
              <a:t>- **类图**（Class Diagram）</a:t>
            </a:r>
          </a:p>
          <a:p>
            <a:pPr/>
            <a:r>
              <a:t>- **对象图**（Object Diagram）</a:t>
            </a:r>
          </a:p>
          <a:p>
            <a:pPr/>
            <a:r>
              <a:t>- **组件图**（Component Diagram）</a:t>
            </a:r>
          </a:p>
          <a:p>
            <a:pPr/>
            <a:r>
              <a:t>- **部署图**（Deployment Diagram）</a:t>
            </a:r>
          </a:p>
          <a:p>
            <a:pPr/>
            <a:r>
              <a:t>### 行为图（Behavior Diagrams）</a:t>
            </a:r>
          </a:p>
          <a:p>
            <a:pPr/>
            <a:r>
              <a:t>- **用例图**（Use Case Diagram）</a:t>
            </a:r>
          </a:p>
          <a:p>
            <a:pPr/>
            <a:r>
              <a:t>- **顺序图**（Sequence Diagram）</a:t>
            </a:r>
          </a:p>
          <a:p>
            <a:pPr/>
            <a:r>
              <a:t>- **活动图**（Activity Diagram）</a:t>
            </a:r>
          </a:p>
          <a:p>
            <a:pPr/>
            <a:r>
              <a:t>- **状态图**（State Diagram）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UML工具介绍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PlantUML（文本到图形）</a:t>
            </a:r>
          </a:p>
          <a:p>
            <a:pPr/>
            <a:r>
              <a:t>**优点**：</a:t>
            </a:r>
          </a:p>
          <a:p>
            <a:pPr/>
            <a:r>
              <a:t>- ✅ 版本控制友好</a:t>
            </a:r>
          </a:p>
          <a:p>
            <a:pPr/>
            <a:r>
              <a:t>- ✅ AI易生成</a:t>
            </a:r>
          </a:p>
          <a:p>
            <a:pPr/>
            <a:r>
              <a:t>- ✅ 文本格式，易于编辑</a:t>
            </a:r>
          </a:p>
          <a:p>
            <a:pPr/>
            <a:r>
              <a:t>**基本语法**：</a:t>
            </a:r>
          </a:p>
          <a:p>
            <a:pPr/>
            <a:r>
              <a:t>```plantuml</a:t>
            </a:r>
          </a:p>
          <a:p>
            <a:pPr/>
            <a:r>
              <a:t>@startuml</a:t>
            </a:r>
          </a:p>
          <a:p>
            <a:pPr/>
            <a:r>
              <a:t>class User {</a:t>
            </a:r>
          </a:p>
          <a:p>
            <a:pPr/>
            <a:r>
              <a:t>+String name</a:t>
            </a:r>
          </a:p>
          <a:p>
            <a:pPr/>
            <a:r>
              <a:t>+String email</a:t>
            </a:r>
          </a:p>
          <a:p>
            <a:pPr/>
            <a:r>
              <a:t>}</a:t>
            </a:r>
          </a:p>
          <a:p>
            <a:pPr/>
            <a:r>
              <a:t>@enduml</a:t>
            </a:r>
          </a:p>
          <a:p>
            <a:pPr/>
            <a:r>
              <a:t>```</a:t>
            </a:r>
          </a:p>
          <a:p>
            <a:pPr/>
            <a:r>
              <a:t>### 其他工具</a:t>
            </a:r>
          </a:p>
          <a:p>
            <a:pPr/>
            <a:r>
              <a:t>- **Draw.io / diagrams.net**</a:t>
            </a:r>
          </a:p>
          <a:p>
            <a:pPr/>
            <a:r>
              <a:t>- **StarUML / Enterprise Architect**</a:t>
            </a:r>
          </a:p>
          <a:p>
            <a:pPr/>
            <a:r>
              <a:t>- **AI辅助UML绘图**</a:t>
            </a:r>
          </a:p>
          <a:p>
            <a:pPr/>
            <a:r>
              <a:t>---</a:t>
            </a:r>
          </a:p>
          <a:p>
            <a:pPr/>
            <a:r>
              <a:t># Part 3: 用例图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用例图的组成元素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参与者（Actor）</a:t>
            </a:r>
          </a:p>
          <a:p>
            <a:pPr/>
            <a:r>
              <a:t>- **用户角色**：管理员、普通用户</a:t>
            </a:r>
          </a:p>
          <a:p>
            <a:pPr/>
            <a:r>
              <a:t>- **外部系统**：支付系统、消息队列</a:t>
            </a:r>
          </a:p>
          <a:p>
            <a:pPr/>
            <a:r>
              <a:t>### 用例（Use Case）</a:t>
            </a:r>
          </a:p>
          <a:p>
            <a:pPr/>
            <a:r>
              <a:t>- **功能描述**：系统提供的功能</a:t>
            </a:r>
          </a:p>
          <a:p>
            <a:pPr/>
            <a:r>
              <a:t>- **命名规范**：动词+名词（如"创建订单"）</a:t>
            </a:r>
          </a:p>
          <a:p>
            <a:pPr/>
            <a:r>
              <a:t>### 系统边界（System Boundary）</a:t>
            </a:r>
          </a:p>
          <a:p>
            <a:pPr/>
            <a:r>
              <a:t>- 定义系统的范围</a:t>
            </a:r>
          </a:p>
          <a:p>
            <a:pPr/>
            <a:r>
              <a:t>- 区分系统内部和外部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用例之间的关系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关联（Association）</a:t>
            </a:r>
          </a:p>
          <a:p>
            <a:pPr/>
            <a:r>
              <a:t>- 参与者与用例之间的连线</a:t>
            </a:r>
          </a:p>
          <a:p>
            <a:pPr/>
            <a:r>
              <a:t>- 表示参与者使用该用例</a:t>
            </a:r>
          </a:p>
          <a:p>
            <a:pPr/>
            <a:r>
              <a:t>### 包含（Include）</a:t>
            </a:r>
          </a:p>
          <a:p>
            <a:pPr/>
            <a:r>
              <a:t>- 用例A总是包含用例B的行为</a:t>
            </a:r>
          </a:p>
          <a:p>
            <a:pPr/>
            <a:r>
              <a:t>- `&lt;&lt;include&gt;&gt;` 依赖关系</a:t>
            </a:r>
          </a:p>
          <a:p>
            <a:pPr/>
            <a:r>
              <a:t>### 扩展（Extend）</a:t>
            </a:r>
          </a:p>
          <a:p>
            <a:pPr/>
            <a:r>
              <a:t>- 用例A可选地扩展用例B的行为</a:t>
            </a:r>
          </a:p>
          <a:p>
            <a:pPr/>
            <a:r>
              <a:t>- `&lt;&lt;extend&gt;&gt;` 依赖关系</a:t>
            </a:r>
          </a:p>
          <a:p>
            <a:pPr/>
            <a:r>
              <a:t>### 泛化（Generalization）</a:t>
            </a:r>
          </a:p>
          <a:p>
            <a:pPr/>
            <a:r>
              <a:t>- 用例之间的继承关系</a:t>
            </a:r>
          </a:p>
          <a:p>
            <a:pPr/>
            <a:r>
              <a:t>- 子用例继承父用例的行为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实例：SQLRustGo用例图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参与者识别</a:t>
            </a:r>
          </a:p>
          <a:p>
            <a:pPr/>
            <a:r>
              <a:t>- **数据库用户**</a:t>
            </a:r>
          </a:p>
          <a:p>
            <a:pPr/>
            <a:r>
              <a:t>- **管理员**</a:t>
            </a:r>
          </a:p>
          <a:p>
            <a:pPr/>
            <a:r>
              <a:t>- **客户端程序**</a:t>
            </a:r>
          </a:p>
          <a:p>
            <a:pPr/>
            <a:r>
              <a:t>### 用例识别</a:t>
            </a:r>
          </a:p>
          <a:p>
            <a:pPr/>
            <a:r>
              <a:t>- 连接数据库</a:t>
            </a:r>
          </a:p>
          <a:p>
            <a:pPr/>
            <a:r>
              <a:t>- 执行SQL查询</a:t>
            </a:r>
          </a:p>
          <a:p>
            <a:pPr/>
            <a:r>
              <a:t>- 管理表结构</a:t>
            </a:r>
          </a:p>
          <a:p>
            <a:pPr/>
            <a:r>
              <a:t>- 事务处理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实例：SQLRustGo用例图（续）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使用AI生成用例图</a:t>
            </a:r>
          </a:p>
          <a:p>
            <a:pPr/>
            <a:r>
              <a:t>**提示词设计**：</a:t>
            </a:r>
          </a:p>
          <a:p>
            <a:pPr/>
            <a:r>
              <a:t>```</a:t>
            </a:r>
          </a:p>
          <a:p>
            <a:pPr/>
            <a:r>
              <a:t>为SQLRustGo数据库系统生成用例图，要求：</a:t>
            </a:r>
          </a:p>
          <a:p>
            <a:pPr/>
            <a:r>
              <a:t>1. 参与者：数据库用户、管理员</a:t>
            </a:r>
          </a:p>
          <a:p>
            <a:pPr/>
            <a:r>
              <a:t>2. 用例：连接数据库、执行SQL查询、管理表结构、事务处理</a:t>
            </a:r>
          </a:p>
          <a:p>
            <a:pPr/>
            <a:r>
              <a:t>3. 使用PlantUML语法</a:t>
            </a:r>
          </a:p>
          <a:p>
            <a:pPr/>
            <a:r>
              <a:t>4. 包含用例之间的关系</a:t>
            </a:r>
          </a:p>
          <a:p>
            <a:pPr/>
            <a:r>
              <a:t>```</a:t>
            </a:r>
          </a:p>
          <a:p>
            <a:pPr/>
            <a:r>
              <a:t>### PlantUML代码生成</a:t>
            </a:r>
          </a:p>
          <a:p>
            <a:pPr/>
            <a:r>
              <a:t>```plantuml</a:t>
            </a:r>
          </a:p>
          <a:p>
            <a:pPr/>
            <a:r>
              <a:t>@startuml</a:t>
            </a:r>
          </a:p>
          <a:p>
            <a:pPr/>
            <a:r>
              <a:t>left to right direction</a:t>
            </a:r>
          </a:p>
          <a:p>
            <a:pPr/>
            <a:r>
              <a:t>actor "数据库用户" as User</a:t>
            </a:r>
          </a:p>
          <a:p>
            <a:pPr/>
            <a:r>
              <a:t>actor "管理员" as Admin</a:t>
            </a:r>
          </a:p>
          <a:p>
            <a:pPr/>
            <a:r>
              <a:t>rectangle "SQLRustGo系统" {</a:t>
            </a:r>
          </a:p>
          <a:p>
            <a:pPr/>
            <a:r>
              <a:t>usecase "连接数据库" as UC1</a:t>
            </a:r>
          </a:p>
          <a:p>
            <a:pPr/>
            <a:r>
              <a:t>usecase "执行SQL查询" as UC2</a:t>
            </a:r>
          </a:p>
          <a:p>
            <a:pPr/>
            <a:r>
              <a:t>usecase "管理表结构" as UC3</a:t>
            </a:r>
          </a:p>
          <a:p>
            <a:pPr/>
            <a:r>
              <a:t>usecase "事务处理" as UC4</a:t>
            </a:r>
          </a:p>
          <a:p>
            <a:pPr/>
            <a:r>
              <a:t>}</a:t>
            </a:r>
          </a:p>
          <a:p>
            <a:pPr/>
            <a:r>
              <a:t>User --&gt; UC1</a:t>
            </a:r>
          </a:p>
          <a:p>
            <a:pPr/>
            <a:r>
              <a:t>User --&gt; UC2</a:t>
            </a:r>
          </a:p>
          <a:p>
            <a:pPr/>
            <a:r>
              <a:t>User --&gt; UC4</a:t>
            </a:r>
          </a:p>
          <a:p>
            <a:pPr/>
            <a:r>
              <a:t>Admin --&gt; UC3</a:t>
            </a:r>
          </a:p>
          <a:p>
            <a:pPr/>
            <a:r>
              <a:t>Admin --&gt; UC4</a:t>
            </a:r>
          </a:p>
          <a:p>
            <a:pPr/>
            <a:r>
              <a:t>@enduml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4: 实践练习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绘制SQLRustGo用例图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任务</a:t>
            </a:r>
          </a:p>
          <a:p>
            <a:pPr/>
            <a:r>
              <a:t>1. 使用PlantUML语法绘制用例图</a:t>
            </a:r>
          </a:p>
          <a:p>
            <a:pPr/>
            <a:r>
              <a:t>2. 至少包含5个用例</a:t>
            </a:r>
          </a:p>
          <a:p>
            <a:pPr/>
            <a:r>
              <a:t>3. 标注用例之间的关系</a:t>
            </a:r>
          </a:p>
          <a:p>
            <a:pPr/>
            <a:r>
              <a:t>### AI辅助优化</a:t>
            </a:r>
          </a:p>
          <a:p>
            <a:pPr/>
            <a:r>
              <a:t>- 使用AI生成初始版本</a:t>
            </a:r>
          </a:p>
          <a:p>
            <a:pPr/>
            <a:r>
              <a:t>- 人工审查和补充</a:t>
            </a:r>
          </a:p>
          <a:p>
            <a:pPr/>
            <a:r>
              <a:t>- 迭代优化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编写用例描述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用例描述模板</a:t>
            </a:r>
          </a:p>
          <a:p>
            <a:pPr/>
            <a:r>
              <a:t>| 项目 | 内容 |</a:t>
            </a:r>
          </a:p>
          <a:p>
            <a:pPr/>
            <a:r>
              <a:t>|------|------|</a:t>
            </a:r>
          </a:p>
          <a:p>
            <a:pPr/>
            <a:r>
              <a:t>| 用例名称 | 执行SQL查询 |</a:t>
            </a:r>
          </a:p>
          <a:p>
            <a:pPr/>
            <a:r>
              <a:t>| 参与者 | 数据库用户 |</a:t>
            </a:r>
          </a:p>
          <a:p>
            <a:pPr/>
            <a:r>
              <a:t>| 前置条件 | 已连接数据库 |</a:t>
            </a:r>
          </a:p>
          <a:p>
            <a:pPr/>
            <a:r>
              <a:t>| 主成功场景 | 1. 用户输入SQL语句&lt;br&gt;2. 系统解析SQL&lt;br&gt;3. 系统执行查询&lt;br&gt;4. 系统返回结果 |</a:t>
            </a:r>
          </a:p>
          <a:p>
            <a:pPr/>
            <a:r>
              <a:t>| 后置条件 | 查询结果已返回 |</a:t>
            </a:r>
          </a:p>
          <a:p>
            <a:pPr/>
            <a:r>
              <a:t>---</a:t>
            </a:r>
          </a:p>
          <a:p>
            <a:pPr/>
            <a:r>
              <a:t># 核心知识点总结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结构化设计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**自顶向下、逐步求精**</a:t>
            </a:r>
          </a:p>
          <a:p>
            <a:pPr/>
            <a:r>
              <a:t>- **高内聚、低耦合**</a:t>
            </a:r>
          </a:p>
          <a:p>
            <a:pPr/>
            <a:r>
              <a:t>- **数据流图（DFD）的应用**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UML基础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**UML 2.0分类**：结构图 vs 行为图</a:t>
            </a:r>
          </a:p>
          <a:p>
            <a:pPr/>
            <a:r>
              <a:t>- **PlantUML文本化建模**</a:t>
            </a:r>
          </a:p>
          <a:p>
            <a:pPr/>
            <a:r>
              <a:t>- **AI辅助UML绘图**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用例图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**参与者、用例、系统边界**</a:t>
            </a:r>
          </a:p>
          <a:p>
            <a:pPr/>
            <a:r>
              <a:t>- **包含、扩展、泛化关系**</a:t>
            </a:r>
          </a:p>
          <a:p>
            <a:pPr/>
            <a:r>
              <a:t>- **用例描述规范**</a:t>
            </a:r>
          </a:p>
          <a:p>
            <a:pPr/>
            <a:r>
              <a:t>---</a:t>
            </a:r>
          </a:p>
          <a:p>
            <a:pPr/>
            <a:r>
              <a:t># 课堂互动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绘制SQLRustGo用例图</a:t>
            </a:r>
          </a:p>
          <a:p>
            <a:pPr/>
            <a:r>
              <a:t>2. 编写2个核心用例的详细描述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讨论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结构化设计在AI时代还有价值吗？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使用AI生成PlantUML代码</a:t>
            </a:r>
          </a:p>
          <a:p>
            <a:pPr/>
            <a:r>
              <a:t>---</a:t>
            </a:r>
          </a:p>
          <a:p>
            <a:pPr/>
            <a:r>
              <a:t># 课后作业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完成SQLRustGo用例图（至少5个用例）</a:t>
            </a:r>
          </a:p>
          <a:p>
            <a:pPr/>
            <a:r>
              <a:t>2. 编写2个核心用例的详细描述</a:t>
            </a:r>
          </a:p>
          <a:p>
            <a:pPr/>
            <a:r>
              <a:t>3. 阅读PlantUML官方文档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面向对象设计原则</a:t>
            </a:r>
          </a:p>
          <a:p>
            <a:pPr/>
            <a:r>
              <a:t>- SOLID原则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下节课：面向对象设计与类图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
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第6</a:t>
            </a:r>
          </a:p>
          <a:p>
            <a:r>
              <a:t>功能模块划分与接口设计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</a:p>
          <a:p>
            <a:pPr/>
            <a:r>
              <a:t># 课程大纲</a:t>
            </a:r>
          </a:p>
          <a:p>
            <a:pPr/>
            <a:r>
              <a:t>1. **功能模块划分**（25分钟）</a:t>
            </a:r>
          </a:p>
          <a:p>
            <a:pPr/>
            <a:r>
              <a:t>2. **SQLRustGo功能模块划分**（30分钟）</a:t>
            </a:r>
          </a:p>
          <a:p>
            <a:pPr/>
            <a:r>
              <a:t>3. **接口设计原则与实践**（20分钟）</a:t>
            </a:r>
          </a:p>
          <a:p>
            <a:pPr/>
            <a:r>
              <a:t>4. **AI辅助接口设计实践**（10分钟）</a:t>
            </a:r>
          </a:p>
          <a:p>
            <a:pPr/>
            <a:r>
              <a:t>---</a:t>
            </a:r>
          </a:p>
          <a:p>
            <a:pPr/>
            <a:r>
              <a:t># Part 1: 功能模块划分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What：什么是功能模块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定义</a:t>
            </a:r>
          </a:p>
          <a:p>
            <a:pPr/>
            <a:r>
              <a:t>功能模块是具有独立功能的软件单元，通过接口对外提供服务</a:t>
            </a:r>
          </a:p>
          <a:p>
            <a:pPr/>
            <a:r>
              <a:t>### 模块的特性</a:t>
            </a:r>
          </a:p>
          <a:p>
            <a:pPr/>
            <a:r>
              <a:t>- **独立性**：模块可以独立开发、测试、部署</a:t>
            </a:r>
          </a:p>
          <a:p>
            <a:pPr/>
            <a:r>
              <a:t>- **可重用性**：模块可以在不同场景中重用</a:t>
            </a:r>
          </a:p>
          <a:p>
            <a:pPr/>
            <a:r>
              <a:t>- **可替换性**：模块可以被其他实现替换</a:t>
            </a:r>
          </a:p>
          <a:p>
            <a:pPr/>
            <a:r>
              <a:t>- **封装性**：模块隐藏内部实现细节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What：什么是功能模块（续）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模块的粒度</a:t>
            </a:r>
          </a:p>
          <a:p>
            <a:pPr/>
            <a:r>
              <a:t>- **粗粒度模块**：功能完整、接口复杂（如存储引擎）</a:t>
            </a:r>
          </a:p>
          <a:p>
            <a:pPr/>
            <a:r>
              <a:t>- **细粒度模块**：功能单一、接口简单（如词法分析器）</a:t>
            </a:r>
          </a:p>
          <a:p>
            <a:pPr/>
            <a:r>
              <a:t>### 模块划分原则</a:t>
            </a:r>
          </a:p>
          <a:p>
            <a:pPr/>
            <a:r>
              <a:t>- **高内聚**：模块内部元素紧密相关</a:t>
            </a:r>
          </a:p>
          <a:p>
            <a:pPr/>
            <a:r>
              <a:t>- **低耦合**：模块之间依赖最小化</a:t>
            </a:r>
          </a:p>
          <a:p>
            <a:pPr/>
            <a:r>
              <a:t>- **单一职责**：一个模块只负责一个功能</a:t>
            </a:r>
          </a:p>
          <a:p>
            <a:pPr/>
            <a:r>
              <a:t>- **接口稳定**：模块接口应该稳定，内部实现可以变化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Why：为什么需要功能模块划分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复杂性管理</a:t>
            </a:r>
          </a:p>
          <a:p>
            <a:pPr/>
            <a:r>
              <a:t>- 大型系统包含数百个功能</a:t>
            </a:r>
          </a:p>
          <a:p>
            <a:pPr/>
            <a:r>
              <a:t>- 模块化将复杂问题分解为简单问题</a:t>
            </a:r>
          </a:p>
          <a:p>
            <a:pPr/>
            <a:r>
              <a:t>- 降低认知负荷</a:t>
            </a:r>
          </a:p>
          <a:p>
            <a:pPr/>
            <a:r>
              <a:t>### 团队协作</a:t>
            </a:r>
          </a:p>
          <a:p>
            <a:pPr/>
            <a:r>
              <a:t>- 不同团队可以负责不同模块</a:t>
            </a:r>
          </a:p>
          <a:p>
            <a:pPr/>
            <a:r>
              <a:t>- 减少代码冲突</a:t>
            </a:r>
          </a:p>
          <a:p>
            <a:pPr/>
            <a:r>
              <a:t>- 提高并行开发效率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Why：为什么需要功能模块划分（续）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可维护性</a:t>
            </a:r>
          </a:p>
          <a:p>
            <a:pPr/>
            <a:r>
              <a:t>- 模块化使代码更易理解和修改</a:t>
            </a:r>
          </a:p>
          <a:p>
            <a:pPr/>
            <a:r>
              <a:t>- Bug定位更精确</a:t>
            </a:r>
          </a:p>
          <a:p>
            <a:pPr/>
            <a:r>
              <a:t>- 重构范围更可控</a:t>
            </a:r>
          </a:p>
          <a:p>
            <a:pPr/>
            <a:r>
              <a:t>### 可测试性</a:t>
            </a:r>
          </a:p>
          <a:p>
            <a:pPr/>
            <a:r>
              <a:t>- 模块可以独立测试</a:t>
            </a:r>
          </a:p>
          <a:p>
            <a:pPr/>
            <a:r>
              <a:t>- 测试覆盖率更高</a:t>
            </a:r>
          </a:p>
          <a:p>
            <a:pPr/>
            <a:r>
              <a:t>- Mock和Stub更容易实现</a:t>
            </a:r>
          </a:p>
          <a:p>
            <a:pPr/>
            <a:r>
              <a:t>### 可扩展性</a:t>
            </a:r>
          </a:p>
          <a:p>
            <a:pPr/>
            <a:r>
              <a:t>- 新功能可以作为新模块添加</a:t>
            </a:r>
          </a:p>
          <a:p>
            <a:pPr/>
            <a:r>
              <a:t>- 现有模块可以独立升级</a:t>
            </a:r>
          </a:p>
          <a:p>
            <a:pPr/>
            <a:r>
              <a:t>- 支持插件化架构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Why：为什么需要功能模块划分（续）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业界案例</a:t>
            </a:r>
          </a:p>
          <a:p>
            <a:pPr/>
            <a:r>
              <a:t>- **Linux内核**：模块化设计支持动态加载驱动</a:t>
            </a:r>
          </a:p>
          <a:p>
            <a:pPr/>
            <a:r>
              <a:t>- **Chrome浏览器**：多进程架构提高稳定性</a:t>
            </a:r>
          </a:p>
          <a:p>
            <a:pPr/>
            <a:r>
              <a:t>- **VS Code**：插件架构支持扩展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How：如何进行功能模块划分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模块划分方法</a:t>
            </a:r>
          </a:p>
          <a:p>
            <a:pPr/>
            <a:r>
              <a:t>| 方法 | 依据 | 示例 | 优点 | 缺点 |</a:t>
            </a:r>
          </a:p>
          <a:p>
            <a:pPr/>
            <a:r>
              <a:t>|------|------|------|------|------|</a:t>
            </a:r>
          </a:p>
          <a:p>
            <a:pPr/>
            <a:r>
              <a:t>| 按功能划分 | 业务功能 | 用户管理、订单管理 | 符合业务逻辑 | 可能导致功能耦合 |</a:t>
            </a:r>
          </a:p>
          <a:p>
            <a:pPr/>
            <a:r>
              <a:t>| 按层次划分 | 系统层次 | 表示层、业务层、数据层 | 结构清晰 | 跨层次调用复杂 |</a:t>
            </a:r>
          </a:p>
          <a:p>
            <a:pPr/>
            <a:r>
              <a:t>| 按数据划分 | 数据实体 | 用户模块、商品模块 | 数据一致性好 | 可能产生数据冗余 |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How：如何进行功能模块划分（续）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模块划分流程</a:t>
            </a:r>
          </a:p>
          <a:p>
            <a:pPr/>
            <a:r>
              <a:t>1. **需求分析**：识别系统功能</a:t>
            </a:r>
          </a:p>
          <a:p>
            <a:pPr/>
            <a:r>
              <a:t>2. **功能聚类**：将相关功能归类</a:t>
            </a:r>
          </a:p>
          <a:p>
            <a:pPr/>
            <a:r>
              <a:t>3. **模块识别**：识别候选模块</a:t>
            </a:r>
          </a:p>
          <a:p>
            <a:pPr/>
            <a:r>
              <a:t>4. **接口设计**：设计模块接口</a:t>
            </a:r>
          </a:p>
          <a:p>
            <a:pPr/>
            <a:r>
              <a:t>5. **依赖分析**：分析模块依赖关系</a:t>
            </a:r>
          </a:p>
          <a:p>
            <a:pPr/>
            <a:r>
              <a:t>6. **迭代优化**：根据反馈优化模块划分</a:t>
            </a:r>
          </a:p>
          <a:p>
            <a:pPr/>
            <a:r>
              <a:t>### 模块划分评估</a:t>
            </a:r>
          </a:p>
          <a:p>
            <a:pPr/>
            <a:r>
              <a:t>- **内聚度评估**：模块内部元素的相关程度</a:t>
            </a:r>
          </a:p>
          <a:p>
            <a:pPr/>
            <a:r>
              <a:t>- **耦合度评估**：模块之间的依赖程度</a:t>
            </a:r>
          </a:p>
          <a:p>
            <a:pPr/>
            <a:r>
              <a:t>- **复杂度评估**：模块的复杂程度</a:t>
            </a:r>
          </a:p>
          <a:p>
            <a:pPr/>
            <a:r>
              <a:t>- **可测试性评估**：模块是否易于测试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How：如何进行功能模块划分（续）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AI辅助模块划分</a:t>
            </a:r>
          </a:p>
          <a:p>
            <a:pPr/>
            <a:r>
              <a:t>```</a:t>
            </a:r>
          </a:p>
          <a:p>
            <a:pPr/>
            <a:r>
              <a:t>分析以下数据库系统的需求，进行功能模块划分：</a:t>
            </a:r>
          </a:p>
          <a:p>
            <a:pPr/>
            <a:r>
              <a:t>[需求文档]</a:t>
            </a:r>
          </a:p>
          <a:p>
            <a:pPr/>
            <a:r>
              <a:t>要求：</a:t>
            </a:r>
          </a:p>
          <a:p>
            <a:pPr/>
            <a:r>
              <a:t>1. 识别核心功能模块</a:t>
            </a:r>
          </a:p>
          <a:p>
            <a:pPr/>
            <a:r>
              <a:t>2. 说明每个模块的职责</a:t>
            </a:r>
          </a:p>
          <a:p>
            <a:pPr/>
            <a:r>
              <a:t>3. 分析模块之间的依赖关系</a:t>
            </a:r>
          </a:p>
          <a:p>
            <a:pPr/>
            <a:r>
              <a:t>4. 评估模块划分的合理性（高内聚、低耦合）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  <a:p>
            <a:pPr/>
            <a:r>
              <a:t># Part 2: SQLRustGo功能模块划分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模块划分方案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```</a:t>
            </a:r>
          </a:p>
          <a:p>
            <a:pPr/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                  Parser 模块                           │</a:t>
            </a:r>
          </a:p>
          <a:p>
            <a:pPr/>
            <a:r>
              <a:t>│  • Lexer：词法分析器                                     │</a:t>
            </a:r>
          </a:p>
          <a:p>
            <a:pPr/>
            <a:r>
              <a:t>│  • Parser：语法分析器                                    │</a:t>
            </a:r>
          </a:p>
          <a:p>
            <a:pPr/>
            <a:r>
              <a:t>│  • AST：抽象语法树                                       │</a:t>
            </a:r>
          </a:p>
          <a:p>
            <a:pPr/>
            <a:r>
              <a:t>│  职责：将SQL字符串转换为AST                              │</a:t>
            </a:r>
          </a:p>
          <a:p>
            <a:pPr/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/>
            <a:r>
              <a:t>↓</a:t>
            </a:r>
          </a:p>
          <a:p>
            <a:pPr/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                  Planner 模块                          │</a:t>
            </a:r>
          </a:p>
          <a:p>
            <a:pPr/>
            <a:r>
              <a:t>│  • LogicalPlanner：逻辑规划器                            │</a:t>
            </a:r>
          </a:p>
          <a:p>
            <a:pPr/>
            <a:r>
              <a:t>│  • PhysicalPlanner：物理规划器                           │</a:t>
            </a:r>
          </a:p>
          <a:p>
            <a:pPr/>
            <a:r>
              <a:t>│  • Optimizer：查询优化器                                 │</a:t>
            </a:r>
          </a:p>
          <a:p>
            <a:pPr/>
            <a:r>
              <a:t>│  职责：生成优化的执行计划                                │</a:t>
            </a:r>
          </a:p>
          <a:p>
            <a:pPr/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模块划分方案（续）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```</a:t>
            </a:r>
          </a:p>
          <a:p>
            <a:pPr/>
            <a:r>
              <a:t>↓</a:t>
            </a:r>
          </a:p>
          <a:p>
            <a:pPr/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                  Executor 模块                         │</a:t>
            </a:r>
          </a:p>
          <a:p>
            <a:pPr/>
            <a:r>
              <a:t>│  • ExecutionEngine：执行引擎                             │</a:t>
            </a:r>
          </a:p>
          <a:p>
            <a:pPr/>
            <a:r>
              <a:t>│  • Operators：执行算子                                   │</a:t>
            </a:r>
          </a:p>
          <a:p>
            <a:pPr/>
            <a:r>
              <a:t>│  职责：执行查询并返回结果                                │</a:t>
            </a:r>
          </a:p>
          <a:p>
            <a:pPr/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/>
            <a:r>
              <a:t>↓</a:t>
            </a:r>
          </a:p>
          <a:p>
            <a:pPr/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                  Storage 模块                          │</a:t>
            </a:r>
          </a:p>
          <a:p>
            <a:pPr/>
            <a:r>
              <a:t>│  • PageManager：页管理器                                 │</a:t>
            </a:r>
          </a:p>
          <a:p>
            <a:pPr/>
            <a:r>
              <a:t>│  • BufferPool：缓冲池                                   │</a:t>
            </a:r>
          </a:p>
          <a:p>
            <a:pPr/>
            <a:r>
              <a:t>│  • BPlusTree：B+树索引                                  │</a:t>
            </a:r>
          </a:p>
          <a:p>
            <a:pPr/>
            <a:r>
              <a:t>│  • WAL：预写日志                                        │</a:t>
            </a:r>
          </a:p>
          <a:p>
            <a:pPr/>
            <a:r>
              <a:t>│  • TransactionManager：事务管理器                        │</a:t>
            </a:r>
          </a:p>
          <a:p>
            <a:pPr/>
            <a:r>
              <a:t>│  职责：数据存储、索引、事务                              │</a:t>
            </a:r>
          </a:p>
          <a:p>
            <a:pPr/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模块划分方案（续）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```</a:t>
            </a:r>
          </a:p>
          <a:p>
            <a:pPr/>
            <a:r>
              <a:t>↓</a:t>
            </a:r>
          </a:p>
          <a:p>
            <a:pPr/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                  Common 模块                           │</a:t>
            </a:r>
          </a:p>
          <a:p>
            <a:pPr/>
            <a:r>
              <a:t>│  • Value：数据值类型                                     │</a:t>
            </a:r>
          </a:p>
          <a:p>
            <a:pPr/>
            <a:r>
              <a:t>│  • DataType：数据类型枚举                                │</a:t>
            </a:r>
          </a:p>
          <a:p>
            <a:pPr/>
            <a:r>
              <a:t>│  • SqlError：错误类型                                   │</a:t>
            </a:r>
          </a:p>
          <a:p>
            <a:pPr/>
            <a:r>
              <a:t>│  职责：公共数据类型和工具                                │</a:t>
            </a:r>
          </a:p>
          <a:p>
            <a:pPr/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模块依赖关系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依赖方向</a:t>
            </a:r>
          </a:p>
          <a:p>
            <a:pPr/>
            <a:r>
              <a:t>- **Parser → Common**：依赖公共数据类型</a:t>
            </a:r>
          </a:p>
          <a:p>
            <a:pPr/>
            <a:r>
              <a:t>- **Planner → Parser, Common**：依赖AST和公共类型</a:t>
            </a:r>
          </a:p>
          <a:p>
            <a:pPr/>
            <a:r>
              <a:t>- **Executor → Planner, Storage, Common**：依赖执行计划和存储层</a:t>
            </a:r>
          </a:p>
          <a:p>
            <a:pPr/>
            <a:r>
              <a:t>- **Storage → Common**：依赖公共数据类型</a:t>
            </a:r>
          </a:p>
          <a:p>
            <a:pPr/>
            <a:r>
              <a:t>- **所有模块 → Common**：依赖公共类型</a:t>
            </a:r>
          </a:p>
          <a:p>
            <a:pPr/>
            <a:r>
              <a:t>### 依赖原则</a:t>
            </a:r>
          </a:p>
          <a:p>
            <a:pPr/>
            <a:r>
              <a:t>- **上层依赖下层，下层不依赖上层**</a:t>
            </a:r>
          </a:p>
          <a:p>
            <a:pPr/>
            <a:r>
              <a:t>- **避免循环依赖**</a:t>
            </a:r>
          </a:p>
          <a:p>
            <a:pPr/>
            <a:r>
              <a:t>- **依赖抽象而非具体实现**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模块接口设计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Parser模块接口</a:t>
            </a:r>
          </a:p>
          <a:p>
            <a:pPr/>
            <a:r>
              <a:t>```rust</a:t>
            </a:r>
          </a:p>
          <a:p>
            <a:pPr/>
            <a:r>
              <a:t>pub trait Lexer {</a:t>
            </a:r>
          </a:p>
          <a:p>
            <a:pPr/>
            <a:r>
              <a:t>fn next_token(&amp;mut self) -&gt; Result&lt;Token, SqlError&gt;;</a:t>
            </a:r>
          </a:p>
          <a:p>
            <a:pPr/>
            <a:r>
              <a:t>}</a:t>
            </a:r>
          </a:p>
          <a:p>
            <a:pPr/>
            <a:r>
              <a:t>pub trait Parser {</a:t>
            </a:r>
          </a:p>
          <a:p>
            <a:pPr/>
            <a:r>
              <a:t>fn parse(&amp;mut self, sql: &amp;str) -&gt; Result&lt;Statement, SqlError&gt;;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### Planner模块接口</a:t>
            </a:r>
          </a:p>
          <a:p>
            <a:pPr/>
            <a:r>
              <a:t>```rust</a:t>
            </a:r>
          </a:p>
          <a:p>
            <a:pPr/>
            <a:r>
              <a:t>pub trait LogicalPlanner {</a:t>
            </a:r>
          </a:p>
          <a:p>
            <a:pPr/>
            <a:r>
              <a:t>fn plan(&amp;self, stmt: &amp;Statement) -&gt; Result&lt;LogicalPlan, SqlError&gt;;</a:t>
            </a:r>
          </a:p>
          <a:p>
            <a:pPr/>
            <a:r>
              <a:t>}</a:t>
            </a:r>
          </a:p>
          <a:p>
            <a:pPr/>
            <a:r>
              <a:t>pub trait PhysicalPlanner {</a:t>
            </a:r>
          </a:p>
          <a:p>
            <a:pPr/>
            <a:r>
              <a:t>fn plan(&amp;self, logical: &amp;LogicalPlan) -&gt; Result&lt;PhysicalPlan, SqlError&gt;;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模块接口设计（续）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Executor模块接口</a:t>
            </a:r>
          </a:p>
          <a:p>
            <a:pPr/>
            <a:r>
              <a:t>```rust</a:t>
            </a:r>
          </a:p>
          <a:p>
            <a:pPr/>
            <a:r>
              <a:t>pub trait ExecutionEngine {</a:t>
            </a:r>
          </a:p>
          <a:p>
            <a:pPr/>
            <a:r>
              <a:t>fn execute(&amp;mut self, plan: &amp;PhysicalPlan) -&gt; Result&lt;ExecutionResult, SqlError&gt;;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### Storage模块接口</a:t>
            </a:r>
          </a:p>
          <a:p>
            <a:pPr/>
            <a:r>
              <a:t>```rust</a:t>
            </a:r>
          </a:p>
          <a:p>
            <a:pPr/>
            <a:r>
              <a:t>pub trait PageManager {</a:t>
            </a:r>
          </a:p>
          <a:p>
            <a:pPr/>
            <a:r>
              <a:t>fn read_page(&amp;self, page_id: PageId) -&gt; Result&lt;Page, SqlError&gt;;</a:t>
            </a:r>
          </a:p>
          <a:p>
            <a:pPr/>
            <a:r>
              <a:t>fn write_page(&amp;mut self, page: &amp;Page) -&gt; Result&lt;(), SqlError&gt;;</a:t>
            </a:r>
          </a:p>
          <a:p>
            <a:pPr/>
            <a:r>
              <a:t>}</a:t>
            </a:r>
          </a:p>
          <a:p>
            <a:pPr/>
            <a:r>
              <a:t>pub trait BufferPool {</a:t>
            </a:r>
          </a:p>
          <a:p>
            <a:pPr/>
            <a:r>
              <a:t>fn get_page(&amp;mut self, page_id: PageId) -&gt; Result&lt;&amp;Page, SqlError&gt;;</a:t>
            </a:r>
          </a:p>
          <a:p>
            <a:pPr/>
            <a:r>
              <a:t>fn put_page(&amp;mut self, page: Page) -&gt; Result&lt;(), SqlError&gt;;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  <a:p>
            <a:pPr/>
            <a:r>
              <a:t># Part 3: 接口设计原则与实践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What：什么是接口设计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接口的定义</a:t>
            </a:r>
          </a:p>
          <a:p>
            <a:pPr/>
            <a:r>
              <a:t>模块之间交互的契约</a:t>
            </a:r>
          </a:p>
          <a:p>
            <a:pPr/>
            <a:r>
              <a:t>### 接口的组成</a:t>
            </a:r>
          </a:p>
          <a:p>
            <a:pPr/>
            <a:r>
              <a:t>- **方法签名**：方法名、参数、返回值</a:t>
            </a:r>
          </a:p>
          <a:p>
            <a:pPr/>
            <a:r>
              <a:t>- **行为契约**：前置条件、后置条件、不变式</a:t>
            </a:r>
          </a:p>
          <a:p>
            <a:pPr/>
            <a:r>
              <a:t>- **错误处理**：错误类型、错误传播</a:t>
            </a:r>
          </a:p>
          <a:p>
            <a:pPr/>
            <a:r>
              <a:t>### 接口的类型</a:t>
            </a:r>
          </a:p>
          <a:p>
            <a:pPr/>
            <a:r>
              <a:t>- **同步接口**：调用者等待结果</a:t>
            </a:r>
          </a:p>
          <a:p>
            <a:pPr/>
            <a:r>
              <a:t>- **异步接口**：调用者不等待结果</a:t>
            </a:r>
          </a:p>
          <a:p>
            <a:pPr/>
            <a:r>
              <a:t>- **流式接口**：返回数据流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Why：接口设计的重要性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解耦</a:t>
            </a:r>
          </a:p>
          <a:p>
            <a:pPr/>
            <a:r>
              <a:t>- 接口降低模块之间的耦合度</a:t>
            </a:r>
          </a:p>
          <a:p>
            <a:pPr/>
            <a:r>
              <a:t>### 可测试性</a:t>
            </a:r>
          </a:p>
          <a:p>
            <a:pPr/>
            <a:r>
              <a:t>- 接口使Mock和Stub更容易实现</a:t>
            </a:r>
          </a:p>
          <a:p>
            <a:pPr/>
            <a:r>
              <a:t>### 可替换性</a:t>
            </a:r>
          </a:p>
          <a:p>
            <a:pPr/>
            <a:r>
              <a:t>- 接口允许替换实现而不影响调用者</a:t>
            </a:r>
          </a:p>
          <a:p>
            <a:pPr/>
            <a:r>
              <a:t>### 可扩展性</a:t>
            </a:r>
          </a:p>
          <a:p>
            <a:pPr/>
            <a:r>
              <a:t>- 接口支持新功能的添加</a:t>
            </a:r>
          </a:p>
          <a:p>
            <a:pPr/>
            <a:r>
              <a:t>### 文档作用</a:t>
            </a:r>
          </a:p>
          <a:p>
            <a:pPr/>
            <a:r>
              <a:t>- 接口本身就是文档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How：接口设计原则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接口隔离原则（ISP）</a:t>
            </a:r>
          </a:p>
          <a:p>
            <a:pPr/>
            <a:r>
              <a:t>- 接口要小而专一</a:t>
            </a:r>
          </a:p>
          <a:p>
            <a:pPr/>
            <a:r>
              <a:t>- 客户端不应该依赖它不需要的接口</a:t>
            </a:r>
          </a:p>
          <a:p>
            <a:pPr/>
            <a:r>
              <a:t>### 最小知识原则（Law of Demeter）</a:t>
            </a:r>
          </a:p>
          <a:p>
            <a:pPr/>
            <a:r>
              <a:t>- 模块只与直接的朋友通信</a:t>
            </a:r>
          </a:p>
          <a:p>
            <a:pPr/>
            <a:r>
              <a:t>- 减少模块之间的依赖</a:t>
            </a:r>
          </a:p>
          <a:p>
            <a:pPr/>
            <a:r>
              <a:t>### 契约式设计（Design by Contract）</a:t>
            </a:r>
          </a:p>
          <a:p>
            <a:pPr/>
            <a:r>
              <a:t>- 明确前置条件、后置条件、不变式</a:t>
            </a:r>
          </a:p>
          <a:p>
            <a:pPr/>
            <a:r>
              <a:t>- 使用类型系统保证契约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How：接口设计原则（续）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错误处理原则</a:t>
            </a:r>
          </a:p>
          <a:p>
            <a:pPr/>
            <a:r>
              <a:t>- 使用Result类型表示可能失败的操作</a:t>
            </a:r>
          </a:p>
          <a:p>
            <a:pPr/>
            <a:r>
              <a:t>- 错误类型应该包含足够的信息</a:t>
            </a:r>
          </a:p>
          <a:p>
            <a:pPr/>
            <a:r>
              <a:t>- 错误应该向上传播到合适的处理层</a:t>
            </a:r>
          </a:p>
          <a:p>
            <a:pPr/>
            <a:r>
              <a:t>### Rust接口设计实践</a:t>
            </a:r>
          </a:p>
          <a:p>
            <a:pPr/>
            <a:r>
              <a:t>- 使用trait定义接口</a:t>
            </a:r>
          </a:p>
          <a:p>
            <a:pPr/>
            <a:r>
              <a:t>- 使用泛型支持多种实现</a:t>
            </a:r>
          </a:p>
          <a:p>
            <a:pPr/>
            <a:r>
              <a:t>- 使用生命周期标注引用关系</a:t>
            </a:r>
          </a:p>
          <a:p>
            <a:pPr/>
            <a:r>
              <a:t>- 使用Send和Sync标记线程安全</a:t>
            </a:r>
          </a:p>
          <a:p>
            <a:pPr/>
            <a:r>
              <a:t>---</a:t>
            </a:r>
          </a:p>
          <a:p>
            <a:pPr/>
            <a:r>
              <a:t># Part 4: AI辅助接口设计实践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使用AI设计接口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提示词设计</a:t>
            </a:r>
          </a:p>
          <a:p>
            <a:pPr/>
            <a:r>
              <a:t>```</a:t>
            </a:r>
          </a:p>
          <a:p>
            <a:pPr/>
            <a:r>
              <a:t>设计数据库缓冲池的接口，要求：</a:t>
            </a:r>
          </a:p>
          <a:p>
            <a:pPr/>
            <a:r>
              <a:t>1. 支持获取页面：get_page(page_id)</a:t>
            </a:r>
          </a:p>
          <a:p>
            <a:pPr/>
            <a:r>
              <a:t>2. 支持插入页面：put_page(page)</a:t>
            </a:r>
          </a:p>
          <a:p>
            <a:pPr/>
            <a:r>
              <a:t>3. 支持LRU置换算法</a:t>
            </a:r>
          </a:p>
          <a:p>
            <a:pPr/>
            <a:r>
              <a:t>4. 支持脏页标记</a:t>
            </a:r>
          </a:p>
          <a:p>
            <a:pPr/>
            <a:r>
              <a:t>5. 使用Rust trait定义</a:t>
            </a:r>
          </a:p>
          <a:p>
            <a:pPr/>
            <a:r>
              <a:t>6. 考虑线程安全</a:t>
            </a:r>
          </a:p>
          <a:p>
            <a:pPr/>
            <a:r>
              <a:t>```</a:t>
            </a:r>
          </a:p>
          <a:p>
            <a:pPr/>
            <a:r>
              <a:t>### 评估接口设计</a:t>
            </a:r>
          </a:p>
          <a:p>
            <a:pPr/>
            <a:r>
              <a:t>- 接口是否简洁？</a:t>
            </a:r>
          </a:p>
          <a:p>
            <a:pPr/>
            <a:r>
              <a:t>- 接口是否完整？</a:t>
            </a:r>
          </a:p>
          <a:p>
            <a:pPr/>
            <a:r>
              <a:t>- 接口是否稳定？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接口评审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评审要点</a:t>
            </a:r>
          </a:p>
          <a:p>
            <a:pPr/>
            <a:r>
              <a:t>- 接口是否简洁？</a:t>
            </a:r>
          </a:p>
          <a:p>
            <a:pPr/>
            <a:r>
              <a:t>- 接口是否完整？</a:t>
            </a:r>
          </a:p>
          <a:p>
            <a:pPr/>
            <a:r>
              <a:t>- 接口是否稳定？</a:t>
            </a:r>
          </a:p>
          <a:p>
            <a:pPr/>
            <a:r>
              <a:t>- 错误处理是否合理？</a:t>
            </a:r>
          </a:p>
          <a:p>
            <a:pPr/>
            <a:r>
              <a:t>### 评审方法</a:t>
            </a:r>
          </a:p>
          <a:p>
            <a:pPr/>
            <a:r>
              <a:t>- 同行评审（Peer Review）</a:t>
            </a:r>
          </a:p>
          <a:p>
            <a:pPr/>
            <a:r>
              <a:t>- 接口评审会议</a:t>
            </a:r>
          </a:p>
          <a:p>
            <a:pPr/>
            <a:r>
              <a:t>- AI辅助评审</a:t>
            </a:r>
          </a:p>
          <a:p>
            <a:pPr/>
            <a:r>
              <a:t>---</a:t>
            </a:r>
          </a:p>
          <a:p>
            <a:pPr/>
            <a:r>
              <a:t># 核心知识点总结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功能模块划分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**What**：功能模块的定义、特性、粒度、划分原则</a:t>
            </a:r>
          </a:p>
          <a:p>
            <a:pPr/>
            <a:r>
              <a:t>- **Why**：复杂性管理、团队协作、可维护性、可测试性、可扩展性</a:t>
            </a:r>
          </a:p>
          <a:p>
            <a:pPr/>
            <a:r>
              <a:t>- **How**：划分方法、划分流程、评估方法、AI辅助划分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SQLRustGo模块划分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Parser模块、Planner模块、Executor模块、Storage模块、Common模块</a:t>
            </a:r>
          </a:p>
          <a:p>
            <a:pPr/>
            <a:r>
              <a:t>- 模块依赖关系</a:t>
            </a:r>
          </a:p>
          <a:p>
            <a:pPr/>
            <a:r>
              <a:t>- 模块接口设计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接口设计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接口设计原则：ISP、最小知识原则、契约式设计、错误处理原则</a:t>
            </a:r>
          </a:p>
          <a:p>
            <a:pPr/>
            <a:r>
              <a:t>- Rust接口设计实践</a:t>
            </a:r>
          </a:p>
          <a:p>
            <a:pPr/>
            <a:r>
              <a:t>- AI辅助接口设计</a:t>
            </a:r>
          </a:p>
          <a:p>
            <a:pPr/>
            <a:r>
              <a:t>---</a:t>
            </a:r>
          </a:p>
          <a:p>
            <a:pPr/>
            <a:r>
              <a:t># 课后作业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完成SQLRustGo模块划分文档</a:t>
            </a:r>
          </a:p>
          <a:p>
            <a:pPr/>
            <a:r>
              <a:t>2. 设计所有模块的接口</a:t>
            </a:r>
          </a:p>
          <a:p>
            <a:pPr/>
            <a:r>
              <a:t>3. 绘制模块依赖图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预习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AI辅助开发概述</a:t>
            </a:r>
          </a:p>
          <a:p>
            <a:pPr/>
            <a:r>
              <a:t>- 词法分析器实现</a:t>
            </a:r>
          </a:p>
          <a:p>
            <a:pPr/>
            <a:r>
              <a:t>---</a:t>
            </a:r>
          </a:p>
          <a:p>
            <a:pPr/>
            <a:r>
              <a:t>&lt;!-- _class: lead --&gt;</a:t>
            </a:r>
          </a:p>
          <a:p>
            <a:pPr/>
            <a:r>
              <a:t># 谢谢！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下节课：AI辅助核心模块实现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
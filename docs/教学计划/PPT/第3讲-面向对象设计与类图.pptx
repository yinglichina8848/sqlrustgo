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第3</a:t>
            </a:r>
          </a:p>
          <a:p>
            <a:r>
              <a:t>面向对象设计与类图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AI增强的软件工程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AI增强的软件工程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---</a:t>
            </a:r>
          </a:p>
          <a:p>
            <a:pPr/>
            <a:r>
              <a:t># 课程大纲</a:t>
            </a:r>
          </a:p>
          <a:p>
            <a:pPr/>
            <a:r>
              <a:t>1. **面向对象设计原则**（25分钟）</a:t>
            </a:r>
          </a:p>
          <a:p>
            <a:pPr/>
            <a:r>
              <a:t>2. **类图**（25分钟）</a:t>
            </a:r>
          </a:p>
          <a:p>
            <a:pPr/>
            <a:r>
              <a:t>3. **SQLRustGo类图设计**（25分钟）</a:t>
            </a:r>
          </a:p>
          <a:p>
            <a:pPr/>
            <a:r>
              <a:t>4. **实践练习**（15分钟）</a:t>
            </a:r>
          </a:p>
          <a:p>
            <a:pPr/>
            <a:r>
              <a:t>---</a:t>
            </a:r>
          </a:p>
          <a:p>
            <a:pPr/>
            <a:r>
              <a:t># Part 1: 面向对象设计原则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 面向对象核心概念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封装（Encapsulation）</a:t>
            </a:r>
          </a:p>
          <a:p>
            <a:pPr/>
            <a:r>
              <a:t>- **数据隐藏**：隐藏内部实现细节</a:t>
            </a:r>
          </a:p>
          <a:p>
            <a:pPr/>
            <a:r>
              <a:t>- **接口暴露**：通过公共方法访问数据</a:t>
            </a:r>
          </a:p>
          <a:p>
            <a:pPr/>
            <a:r>
              <a:t>### 继承（Inheritance）</a:t>
            </a:r>
          </a:p>
          <a:p>
            <a:pPr/>
            <a:r>
              <a:t>- **代码复用**：子类继承父类的属性和方法</a:t>
            </a:r>
          </a:p>
          <a:p>
            <a:pPr/>
            <a:r>
              <a:t>- **层次结构**：建立类之间的层次关系</a:t>
            </a:r>
          </a:p>
          <a:p>
            <a:pPr/>
            <a:r>
              <a:t>### 多态（Polymorphism）</a:t>
            </a:r>
          </a:p>
          <a:p>
            <a:pPr/>
            <a:r>
              <a:t>- **接口统一**：不同对象对同一消息有不同响应</a:t>
            </a:r>
          </a:p>
          <a:p>
            <a:pPr/>
            <a:r>
              <a:t>- **运行时绑定**：在运行时确定调用的方法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1.2 SOLID原则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单一职责原则（SRP）</a:t>
            </a:r>
          </a:p>
          <a:p>
            <a:pPr/>
            <a:r>
              <a:t>**一个类只有一个变化原因**</a:t>
            </a:r>
          </a:p>
          <a:p>
            <a:pPr/>
            <a:r>
              <a:t>```rust</a:t>
            </a:r>
          </a:p>
          <a:p>
            <a:pPr/>
            <a:r>
              <a:t>// ❌ 违反SRP</a:t>
            </a:r>
          </a:p>
          <a:p>
            <a:pPr/>
            <a:r>
              <a:t>class User {</a:t>
            </a:r>
          </a:p>
          <a:p>
            <a:pPr/>
            <a:r>
              <a:t>fn save(&amp;self) { }  // 数据持久化</a:t>
            </a:r>
          </a:p>
          <a:p>
            <a:pPr/>
            <a:r>
              <a:t>fn send_email(&amp;self) { }  // 发送邮件</a:t>
            </a:r>
          </a:p>
          <a:p>
            <a:pPr/>
            <a:r>
              <a:t>}</a:t>
            </a:r>
          </a:p>
          <a:p>
            <a:pPr/>
            <a:r>
              <a:t>// ✅ 符合SRP</a:t>
            </a:r>
          </a:p>
          <a:p>
            <a:pPr/>
            <a:r>
              <a:t>class UserRepository {</a:t>
            </a:r>
          </a:p>
          <a:p>
            <a:pPr/>
            <a:r>
              <a:t>fn save(&amp;self, user: &amp;User) { }</a:t>
            </a:r>
          </a:p>
          <a:p>
            <a:pPr/>
            <a:r>
              <a:t>}</a:t>
            </a:r>
          </a:p>
          <a:p>
            <a:pPr/>
            <a:r>
              <a:t>class EmailService {</a:t>
            </a:r>
          </a:p>
          <a:p>
            <a:pPr/>
            <a:r>
              <a:t>fn send(&amp;self, user: &amp;User) { }</a:t>
            </a:r>
          </a:p>
          <a:p>
            <a:pPr/>
            <a:r>
              <a:t>}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1.2 SOLID原则（续）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开闭原则（OCP）</a:t>
            </a:r>
          </a:p>
          <a:p>
            <a:pPr/>
            <a:r>
              <a:t>**对扩展开放，对修改关闭**</a:t>
            </a:r>
          </a:p>
          <a:p>
            <a:pPr/>
            <a:r>
              <a:t>```rust</a:t>
            </a:r>
          </a:p>
          <a:p>
            <a:pPr/>
            <a:r>
              <a:t>// ✅ 符合OCP</a:t>
            </a:r>
          </a:p>
          <a:p>
            <a:pPr/>
            <a:r>
              <a:t>trait PaymentMethod {</a:t>
            </a:r>
          </a:p>
          <a:p>
            <a:pPr/>
            <a:r>
              <a:t>fn pay(&amp;self, amount: f64);</a:t>
            </a:r>
          </a:p>
          <a:p>
            <a:pPr/>
            <a:r>
              <a:t>}</a:t>
            </a:r>
          </a:p>
          <a:p>
            <a:pPr/>
            <a:r>
              <a:t>class CreditCardPayment impl PaymentMethod { }</a:t>
            </a:r>
          </a:p>
          <a:p>
            <a:pPr/>
            <a:r>
              <a:t>class AlipayPayment impl PaymentMethod { }</a:t>
            </a:r>
          </a:p>
          <a:p>
            <a:pPr/>
            <a:r>
              <a:t>class WeChatPayment impl PaymentMethod { }</a:t>
            </a:r>
          </a:p>
          <a:p>
            <a:pPr/>
            <a:r>
              <a:t>```</a:t>
            </a:r>
          </a:p>
          <a:p>
            <a:pPr/>
            <a:r>
              <a:t>### 里氏替换原则（LSP）</a:t>
            </a:r>
          </a:p>
          <a:p>
            <a:pPr/>
            <a:r>
              <a:t>**子类可以替换父类**</a:t>
            </a:r>
          </a:p>
          <a:p>
            <a:pPr/>
            <a:r>
              <a:t>- 子类不应该破坏父类的行为契约</a:t>
            </a:r>
          </a:p>
          <a:p>
            <a:pPr/>
            <a:r>
              <a:t>- 子类可以扩展父类，但不能改变父类的行为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1.2 SOLID原则（续）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接口隔离原则（ISP）</a:t>
            </a:r>
          </a:p>
          <a:p>
            <a:pPr/>
            <a:r>
              <a:t>**接口要小而专一**</a:t>
            </a:r>
          </a:p>
          <a:p>
            <a:pPr/>
            <a:r>
              <a:t>```rust</a:t>
            </a:r>
          </a:p>
          <a:p>
            <a:pPr/>
            <a:r>
              <a:t>// ❌ 违反ISP</a:t>
            </a:r>
          </a:p>
          <a:p>
            <a:pPr/>
            <a:r>
              <a:t>trait Worker {</a:t>
            </a:r>
          </a:p>
          <a:p>
            <a:pPr/>
            <a:r>
              <a:t>fn work(&amp;self);</a:t>
            </a:r>
          </a:p>
          <a:p>
            <a:pPr/>
            <a:r>
              <a:t>fn eat(&amp;self);</a:t>
            </a:r>
          </a:p>
          <a:p>
            <a:pPr/>
            <a:r>
              <a:t>}</a:t>
            </a:r>
          </a:p>
          <a:p>
            <a:pPr/>
            <a:r>
              <a:t>// ✅ 符合ISP</a:t>
            </a:r>
          </a:p>
          <a:p>
            <a:pPr/>
            <a:r>
              <a:t>trait Workable {</a:t>
            </a:r>
          </a:p>
          <a:p>
            <a:pPr/>
            <a:r>
              <a:t>fn work(&amp;self);</a:t>
            </a:r>
          </a:p>
          <a:p>
            <a:pPr/>
            <a:r>
              <a:t>}</a:t>
            </a:r>
          </a:p>
          <a:p>
            <a:pPr/>
            <a:r>
              <a:t>trait Eatable {</a:t>
            </a:r>
          </a:p>
          <a:p>
            <a:pPr/>
            <a:r>
              <a:t>fn eat(&amp;self);</a:t>
            </a:r>
          </a:p>
          <a:p>
            <a:pPr/>
            <a:r>
              <a:t>}</a:t>
            </a:r>
          </a:p>
          <a:p>
            <a:pPr/>
            <a:r>
              <a:t>```</a:t>
            </a:r>
          </a:p>
          <a:p>
            <a:pPr/>
            <a:r>
              <a:t>### 依赖倒置原则（DIP）</a:t>
            </a:r>
          </a:p>
          <a:p>
            <a:pPr/>
            <a:r>
              <a:t>**依赖抽象而非具体**</a:t>
            </a:r>
          </a:p>
          <a:p>
            <a:pPr/>
            <a:r>
              <a:t>- 高层模块不应该依赖低层模块</a:t>
            </a:r>
          </a:p>
          <a:p>
            <a:pPr/>
            <a:r>
              <a:t>- 两者都应该依赖抽象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1.3 设计模式简介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创建型模式</a:t>
            </a:r>
          </a:p>
          <a:p>
            <a:pPr/>
            <a:r>
              <a:t>- 单例模式、工厂模式、建造者模式</a:t>
            </a:r>
          </a:p>
          <a:p>
            <a:pPr/>
            <a:r>
              <a:t>### 结构型模式</a:t>
            </a:r>
          </a:p>
          <a:p>
            <a:pPr/>
            <a:r>
              <a:t>- 适配器模式、装饰器模式、代理模式</a:t>
            </a:r>
          </a:p>
          <a:p>
            <a:pPr/>
            <a:r>
              <a:t>### 行为型模式</a:t>
            </a:r>
          </a:p>
          <a:p>
            <a:pPr/>
            <a:r>
              <a:t>- 观察者模式、策略模式、命令模式</a:t>
            </a:r>
          </a:p>
          <a:p>
            <a:pPr/>
            <a:r>
              <a:t>### AI辅助设计模式应用</a:t>
            </a:r>
          </a:p>
          <a:p>
            <a:pPr/>
            <a:r>
              <a:t>- AI可以识别适合的设计模式</a:t>
            </a:r>
          </a:p>
          <a:p>
            <a:pPr/>
            <a:r>
              <a:t>- AI可以生成设计模式代码</a:t>
            </a:r>
          </a:p>
          <a:p>
            <a:pPr/>
            <a:r>
              <a:t>- AI可以解释设计模式的应用场景</a:t>
            </a:r>
          </a:p>
          <a:p>
            <a:pPr/>
            <a:r>
              <a:t>---</a:t>
            </a:r>
          </a:p>
          <a:p>
            <a:pPr/>
            <a:r>
              <a:t># Part 2: 类图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 类图的组成元素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类名（Class Name）</a:t>
            </a:r>
          </a:p>
          <a:p>
            <a:pPr/>
            <a:r>
              <a:t>- 首字母大写</a:t>
            </a:r>
          </a:p>
          <a:p>
            <a:pPr/>
            <a:r>
              <a:t>- 名词短语</a:t>
            </a:r>
          </a:p>
          <a:p>
            <a:pPr/>
            <a:r>
              <a:t>### 属性（Attributes）</a:t>
            </a:r>
          </a:p>
          <a:p>
            <a:pPr/>
            <a:r>
              <a:t>```</a:t>
            </a:r>
          </a:p>
          <a:p>
            <a:pPr/>
            <a:r>
              <a:t>可见性 名称: 类型 = 默认值</a:t>
            </a:r>
          </a:p>
          <a:p>
            <a:pPr/>
            <a:r>
              <a:t>```</a:t>
            </a:r>
          </a:p>
          <a:p>
            <a:pPr/>
            <a:r>
              <a:t>- **可见性**：+public, -private, #protected</a:t>
            </a:r>
          </a:p>
          <a:p>
            <a:pPr/>
            <a:r>
              <a:t>- **类型**：String, Integer, Boolean等</a:t>
            </a:r>
          </a:p>
          <a:p>
            <a:pPr/>
            <a:r>
              <a:t>- **默认值**：可选</a:t>
            </a:r>
          </a:p>
          <a:p>
            <a:pPr/>
            <a:r>
              <a:t>### 方法（Methods）</a:t>
            </a:r>
          </a:p>
          <a:p>
            <a:pPr/>
            <a:r>
              <a:t>```</a:t>
            </a:r>
          </a:p>
          <a:p>
            <a:pPr/>
            <a:r>
              <a:t>可见性 名称(参数列表): 返回类型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 类之间的关系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关联（Association）</a:t>
            </a:r>
          </a:p>
          <a:p>
            <a:pPr/>
            <a:r>
              <a:t>- 对象之间的连接关系</a:t>
            </a:r>
          </a:p>
          <a:p>
            <a:pPr/>
            <a:r>
              <a:t>- 单向关联、双向关联</a:t>
            </a:r>
          </a:p>
          <a:p>
            <a:pPr/>
            <a:r>
              <a:t>- 多重性：1, 0..1, *, 1..*</a:t>
            </a:r>
          </a:p>
          <a:p>
            <a:pPr/>
            <a:r>
              <a:t>### 聚合（Aggregation）</a:t>
            </a:r>
          </a:p>
          <a:p>
            <a:pPr/>
            <a:r>
              <a:t>- **has-a** 关系</a:t>
            </a:r>
          </a:p>
          <a:p>
            <a:pPr/>
            <a:r>
              <a:t>- 整体与部分，部分可以独立存在</a:t>
            </a:r>
          </a:p>
          <a:p>
            <a:pPr/>
            <a:r>
              <a:t>- **空心菱形**表示</a:t>
            </a:r>
          </a:p>
          <a:p>
            <a:pPr/>
            <a:r>
              <a:t>### 组合（Composition）</a:t>
            </a:r>
          </a:p>
          <a:p>
            <a:pPr/>
            <a:r>
              <a:t>- **contains-a** 关系</a:t>
            </a:r>
          </a:p>
          <a:p>
            <a:pPr/>
            <a:r>
              <a:t>- 整体与部分，部分不能独立存在</a:t>
            </a:r>
          </a:p>
          <a:p>
            <a:pPr/>
            <a:r>
              <a:t>- **实心菱形**表示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 类之间的关系（续）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依赖（Dependency）</a:t>
            </a:r>
          </a:p>
          <a:p>
            <a:pPr/>
            <a:r>
              <a:t>- **uses-a** 关系</a:t>
            </a:r>
          </a:p>
          <a:p>
            <a:pPr/>
            <a:r>
              <a:t>- 一个类使用另一个类</a:t>
            </a:r>
          </a:p>
          <a:p>
            <a:pPr/>
            <a:r>
              <a:t>- **虚线箭头**表示</a:t>
            </a:r>
          </a:p>
          <a:p>
            <a:pPr/>
            <a:r>
              <a:t>### 泛化（Generalization）</a:t>
            </a:r>
          </a:p>
          <a:p>
            <a:pPr/>
            <a:r>
              <a:t>- **is-a** 关系</a:t>
            </a:r>
          </a:p>
          <a:p>
            <a:pPr/>
            <a:r>
              <a:t>- 继承关系</a:t>
            </a:r>
          </a:p>
          <a:p>
            <a:pPr/>
            <a:r>
              <a:t>- **实线空心三角箭头**表示</a:t>
            </a:r>
          </a:p>
          <a:p>
            <a:pPr/>
            <a:r>
              <a:t>### 实现（Realization）</a:t>
            </a:r>
          </a:p>
          <a:p>
            <a:pPr/>
            <a:r>
              <a:t>- 接口实现</a:t>
            </a:r>
          </a:p>
          <a:p>
            <a:pPr/>
            <a:r>
              <a:t>- **虚线空心三角箭头**表示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 类图绘制规范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命名规范</a:t>
            </a:r>
          </a:p>
          <a:p>
            <a:pPr/>
            <a:r>
              <a:t>- 类名：PascalCase（如`UserAccount`）</a:t>
            </a:r>
          </a:p>
          <a:p>
            <a:pPr/>
            <a:r>
              <a:t>- 属性名：camelCase（如`userName`）</a:t>
            </a:r>
          </a:p>
          <a:p>
            <a:pPr/>
            <a:r>
              <a:t>- 方法名：camelCase（如`getUserInfo`）</a:t>
            </a:r>
          </a:p>
          <a:p>
            <a:pPr/>
            <a:r>
              <a:t>### 布局原则</a:t>
            </a:r>
          </a:p>
          <a:p>
            <a:pPr/>
            <a:r>
              <a:t>- 从左到右、从上到下</a:t>
            </a:r>
          </a:p>
          <a:p>
            <a:pPr/>
            <a:r>
              <a:t>- 父类在上，子类在下</a:t>
            </a:r>
          </a:p>
          <a:p>
            <a:pPr/>
            <a:r>
              <a:t>- 相关的类靠近放置</a:t>
            </a:r>
          </a:p>
          <a:p>
            <a:pPr/>
            <a:r>
              <a:t>### PlantUML语法</a:t>
            </a:r>
          </a:p>
          <a:p>
            <a:pPr/>
            <a:r>
              <a:t>```plantuml</a:t>
            </a:r>
          </a:p>
          <a:p>
            <a:pPr/>
            <a:r>
              <a:t>class User {</a:t>
            </a:r>
          </a:p>
          <a:p>
            <a:pPr/>
            <a:r>
              <a:t>-id: String</a:t>
            </a:r>
          </a:p>
          <a:p>
            <a:pPr/>
            <a:r>
              <a:t>-name: String</a:t>
            </a:r>
          </a:p>
          <a:p>
            <a:pPr/>
            <a:r>
              <a:t>+getId(): String</a:t>
            </a:r>
          </a:p>
          <a:p>
            <a:pPr/>
            <a:r>
              <a:t>+getName(): String</a:t>
            </a:r>
          </a:p>
          <a:p>
            <a:pPr/>
            <a:r>
              <a:t>}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  <a:p>
            <a:pPr/>
            <a:r>
              <a:t># Part 3: SQLRustGo类图设计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3.1 核心类设计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类型系统</a:t>
            </a:r>
          </a:p>
          <a:p>
            <a:pPr/>
            <a:r>
              <a:t>```rust</a:t>
            </a:r>
          </a:p>
          <a:p>
            <a:pPr/>
            <a:r>
              <a:t>enum Value {</a:t>
            </a:r>
          </a:p>
          <a:p>
            <a:pPr/>
            <a:r>
              <a:t>Integer(i64),</a:t>
            </a:r>
          </a:p>
          <a:p>
            <a:pPr/>
            <a:r>
              <a:t>Float(f64),</a:t>
            </a:r>
          </a:p>
          <a:p>
            <a:pPr/>
            <a:r>
              <a:t>String(String),</a:t>
            </a:r>
          </a:p>
          <a:p>
            <a:pPr/>
            <a:r>
              <a:t>Boolean(bool),</a:t>
            </a:r>
          </a:p>
          <a:p>
            <a:pPr/>
            <a:r>
              <a:t>Null,</a:t>
            </a:r>
          </a:p>
          <a:p>
            <a:pPr/>
            <a:r>
              <a:t>}</a:t>
            </a:r>
          </a:p>
          <a:p>
            <a:pPr/>
            <a:r>
              <a:t>enum DataType {</a:t>
            </a:r>
          </a:p>
          <a:p>
            <a:pPr/>
            <a:r>
              <a:t>Integer,</a:t>
            </a:r>
          </a:p>
          <a:p>
            <a:pPr/>
            <a:r>
              <a:t>Float,</a:t>
            </a:r>
          </a:p>
          <a:p>
            <a:pPr/>
            <a:r>
              <a:t>String,</a:t>
            </a:r>
          </a:p>
          <a:p>
            <a:pPr/>
            <a:r>
              <a:t>Boolean,</a:t>
            </a:r>
          </a:p>
          <a:p>
            <a:pPr/>
            <a:r>
              <a:t>}</a:t>
            </a:r>
          </a:p>
          <a:p>
            <a:pPr/>
            <a:r>
              <a:t>struct SqlError {</a:t>
            </a:r>
          </a:p>
          <a:p>
            <a:pPr/>
            <a:r>
              <a:t>message: String,</a:t>
            </a:r>
          </a:p>
          <a:p>
            <a:pPr/>
            <a:r>
              <a:t>code: u32,</a:t>
            </a:r>
          </a:p>
          <a:p>
            <a:pPr/>
            <a:r>
              <a:t>}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3.1 核心类设计（续）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词法分析</a:t>
            </a:r>
          </a:p>
          <a:p>
            <a:pPr/>
            <a:r>
              <a:t>```rust</a:t>
            </a:r>
          </a:p>
          <a:p>
            <a:pPr/>
            <a:r>
              <a:t>enum Token {</a:t>
            </a:r>
          </a:p>
          <a:p>
            <a:pPr/>
            <a:r>
              <a:t>// 关键字</a:t>
            </a:r>
          </a:p>
          <a:p>
            <a:pPr/>
            <a:r>
              <a:t>Select, From, Where, Insert,</a:t>
            </a:r>
          </a:p>
          <a:p>
            <a:pPr/>
            <a:r>
              <a:t>// 标识符</a:t>
            </a:r>
          </a:p>
          <a:p>
            <a:pPr/>
            <a:r>
              <a:t>Identifier(String),</a:t>
            </a:r>
          </a:p>
          <a:p>
            <a:pPr/>
            <a:r>
              <a:t>// 字面量</a:t>
            </a:r>
          </a:p>
          <a:p>
            <a:pPr/>
            <a:r>
              <a:t>IntegerLiteral(i64),</a:t>
            </a:r>
          </a:p>
          <a:p>
            <a:pPr/>
            <a:r>
              <a:t>StringLiteral(String),</a:t>
            </a:r>
          </a:p>
          <a:p>
            <a:pPr/>
            <a:r>
              <a:t>// 运算符</a:t>
            </a:r>
          </a:p>
          <a:p>
            <a:pPr/>
            <a:r>
              <a:t>Plus, Minus, Star, Slash,</a:t>
            </a:r>
          </a:p>
          <a:p>
            <a:pPr/>
            <a:r>
              <a:t>Equal, NotEqual, Less, Greater,</a:t>
            </a:r>
          </a:p>
          <a:p>
            <a:pPr/>
            <a:r>
              <a:t>}</a:t>
            </a:r>
          </a:p>
          <a:p>
            <a:pPr/>
            <a:r>
              <a:t>struct Lexer {</a:t>
            </a:r>
          </a:p>
          <a:p>
            <a:pPr/>
            <a:r>
              <a:t>input: String,</a:t>
            </a:r>
          </a:p>
          <a:p>
            <a:pPr/>
            <a:r>
              <a:t>position: usize,</a:t>
            </a:r>
          </a:p>
          <a:p>
            <a:pPr/>
            <a:r>
              <a:t>}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3.1 核心类设计（续）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语法分析</a:t>
            </a:r>
          </a:p>
          <a:p>
            <a:pPr/>
            <a:r>
              <a:t>```rust</a:t>
            </a:r>
          </a:p>
          <a:p>
            <a:pPr/>
            <a:r>
              <a:t>enum Statement {</a:t>
            </a:r>
          </a:p>
          <a:p>
            <a:pPr/>
            <a:r>
              <a:t>Select(SelectStatement),</a:t>
            </a:r>
          </a:p>
          <a:p>
            <a:pPr/>
            <a:r>
              <a:t>Insert(InsertStatement),</a:t>
            </a:r>
          </a:p>
          <a:p>
            <a:pPr/>
            <a:r>
              <a:t>Update(UpdateStatement),</a:t>
            </a:r>
          </a:p>
          <a:p>
            <a:pPr/>
            <a:r>
              <a:t>Delete(DeleteStatement),</a:t>
            </a:r>
          </a:p>
          <a:p>
            <a:pPr/>
            <a:r>
              <a:t>CreateTable(CreateTableStatement),</a:t>
            </a:r>
          </a:p>
          <a:p>
            <a:pPr/>
            <a:r>
              <a:t>}</a:t>
            </a:r>
          </a:p>
          <a:p>
            <a:pPr/>
            <a:r>
              <a:t>struct SelectStatement {</a:t>
            </a:r>
          </a:p>
          <a:p>
            <a:pPr/>
            <a:r>
              <a:t>columns: Vec&lt;String&gt;,</a:t>
            </a:r>
          </a:p>
          <a:p>
            <a:pPr/>
            <a:r>
              <a:t>from_table: String,</a:t>
            </a:r>
          </a:p>
          <a:p>
            <a:pPr/>
            <a:r>
              <a:t>where_clause: Option&lt;Expression&gt;,</a:t>
            </a:r>
          </a:p>
          <a:p>
            <a:pPr/>
            <a:r>
              <a:t>limit: Option&lt;usize&gt;,</a:t>
            </a:r>
          </a:p>
          <a:p>
            <a:pPr/>
            <a:r>
              <a:t>}</a:t>
            </a:r>
          </a:p>
          <a:p>
            <a:pPr/>
            <a:r>
              <a:t>enum Expression {</a:t>
            </a:r>
          </a:p>
          <a:p>
            <a:pPr/>
            <a:r>
              <a:t>Literal(Value),</a:t>
            </a:r>
          </a:p>
          <a:p>
            <a:pPr/>
            <a:r>
              <a:t>Column(String),</a:t>
            </a:r>
          </a:p>
          <a:p>
            <a:pPr/>
            <a:r>
              <a:t>BinaryOp {</a:t>
            </a:r>
          </a:p>
          <a:p>
            <a:pPr/>
            <a:r>
              <a:t>left: Box&lt;Expression&gt;,</a:t>
            </a:r>
          </a:p>
          <a:p>
            <a:pPr/>
            <a:r>
              <a:t>op: BinaryOperator,</a:t>
            </a:r>
          </a:p>
          <a:p>
            <a:pPr/>
            <a:r>
              <a:t>right: Box&lt;Expression&gt;,</a:t>
            </a:r>
          </a:p>
          <a:p>
            <a:pPr/>
            <a:r>
              <a:t>},</a:t>
            </a:r>
          </a:p>
          <a:p>
            <a:pPr/>
            <a:r>
              <a:t>}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3.1 核心类设计（续）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存储引擎</a:t>
            </a:r>
          </a:p>
          <a:p>
            <a:pPr/>
            <a:r>
              <a:t>```rust</a:t>
            </a:r>
          </a:p>
          <a:p>
            <a:pPr/>
            <a:r>
              <a:t>struct Page {</a:t>
            </a:r>
          </a:p>
          <a:p>
            <a:pPr/>
            <a:r>
              <a:t>id: PageId,</a:t>
            </a:r>
          </a:p>
          <a:p>
            <a:pPr/>
            <a:r>
              <a:t>data: Vec&lt;u8&gt;,</a:t>
            </a:r>
          </a:p>
          <a:p>
            <a:pPr/>
            <a:r>
              <a:t>dirty: bool,</a:t>
            </a:r>
          </a:p>
          <a:p>
            <a:pPr/>
            <a:r>
              <a:t>}</a:t>
            </a:r>
          </a:p>
          <a:p>
            <a:pPr/>
            <a:r>
              <a:t>struct BufferPool {</a:t>
            </a:r>
          </a:p>
          <a:p>
            <a:pPr/>
            <a:r>
              <a:t>pages: HashMap&lt;PageId, Page&gt;,</a:t>
            </a:r>
          </a:p>
          <a:p>
            <a:pPr/>
            <a:r>
              <a:t>capacity: usize,</a:t>
            </a:r>
          </a:p>
          <a:p>
            <a:pPr/>
            <a:r>
              <a:t>lru_list: LinkedList&lt;PageId&gt;,</a:t>
            </a:r>
          </a:p>
          <a:p>
            <a:pPr/>
            <a:r>
              <a:t>}</a:t>
            </a:r>
          </a:p>
          <a:p>
            <a:pPr/>
            <a:r>
              <a:t>struct BPlusTree {</a:t>
            </a:r>
          </a:p>
          <a:p>
            <a:pPr/>
            <a:r>
              <a:t>root: Option&lt;PageId&gt;,</a:t>
            </a:r>
          </a:p>
          <a:p>
            <a:pPr/>
            <a:r>
              <a:t>order: usize,</a:t>
            </a:r>
          </a:p>
          <a:p>
            <a:pPr/>
            <a:r>
              <a:t>}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3.1 核心类设计（续）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执行引擎</a:t>
            </a:r>
          </a:p>
          <a:p>
            <a:pPr/>
            <a:r>
              <a:t>```rust</a:t>
            </a:r>
          </a:p>
          <a:p>
            <a:pPr/>
            <a:r>
              <a:t>struct ExecutionEngine {</a:t>
            </a:r>
          </a:p>
          <a:p>
            <a:pPr/>
            <a:r>
              <a:t>storage: StorageEngine,</a:t>
            </a:r>
          </a:p>
          <a:p>
            <a:pPr/>
            <a:r>
              <a:t>buffer_pool: BufferPool,</a:t>
            </a:r>
          </a:p>
          <a:p>
            <a:pPr/>
            <a:r>
              <a:t>}</a:t>
            </a:r>
          </a:p>
          <a:p>
            <a:pPr/>
            <a:r>
              <a:t>enum ExecutionResult {</a:t>
            </a:r>
          </a:p>
          <a:p>
            <a:pPr/>
            <a:r>
              <a:t>QueryResult { columns: Vec&lt;String&gt;, rows: Vec&lt;Vec&lt;Value&gt;&gt; },</a:t>
            </a:r>
          </a:p>
          <a:p>
            <a:pPr/>
            <a:r>
              <a:t>UpdateResult { affected_rows: usize },</a:t>
            </a:r>
          </a:p>
          <a:p>
            <a:pPr/>
            <a:r>
              <a:t>Error(SqlError),</a:t>
            </a:r>
          </a:p>
          <a:p>
            <a:pPr/>
            <a:r>
              <a:t>}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3.2 类关系分析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Parser依赖关系</a:t>
            </a:r>
          </a:p>
          <a:p>
            <a:pPr/>
            <a:r>
              <a:t>```</a:t>
            </a:r>
          </a:p>
          <a:p>
            <a:pPr/>
            <a:r>
              <a:t>Parser → Lexer</a:t>
            </a:r>
          </a:p>
          <a:p>
            <a:pPr/>
            <a:r>
              <a:t>Parser → Statement</a:t>
            </a:r>
          </a:p>
          <a:p>
            <a:pPr/>
            <a:r>
              <a:t>Parser → Expression</a:t>
            </a:r>
          </a:p>
          <a:p>
            <a:pPr/>
            <a:r>
              <a:t>```</a:t>
            </a:r>
          </a:p>
          <a:p>
            <a:pPr/>
            <a:r>
              <a:t>### ExecutionEngine依赖关系</a:t>
            </a:r>
          </a:p>
          <a:p>
            <a:pPr/>
            <a:r>
              <a:t>```</a:t>
            </a:r>
          </a:p>
          <a:p>
            <a:pPr/>
            <a:r>
              <a:t>ExecutionEngine → Parser</a:t>
            </a:r>
          </a:p>
          <a:p>
            <a:pPr/>
            <a:r>
              <a:t>ExecutionEngine → Storage</a:t>
            </a:r>
          </a:p>
          <a:p>
            <a:pPr/>
            <a:r>
              <a:t>ExecutionEngine → ExecutionResult</a:t>
            </a:r>
          </a:p>
          <a:p>
            <a:pPr/>
            <a:r>
              <a:t>```</a:t>
            </a:r>
          </a:p>
          <a:p>
            <a:pPr/>
            <a:r>
              <a:t>### Statement组合关系</a:t>
            </a:r>
          </a:p>
          <a:p>
            <a:pPr/>
            <a:r>
              <a:t>```</a:t>
            </a:r>
          </a:p>
          <a:p>
            <a:pPr/>
            <a:r>
              <a:t>Statement ◆→ Expression</a:t>
            </a:r>
          </a:p>
          <a:p>
            <a:pPr/>
            <a:r>
              <a:t>SelectStatement ◆→ Expression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3.3 使用AI生成类图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提示词设计</a:t>
            </a:r>
          </a:p>
          <a:p>
            <a:pPr/>
            <a:r>
              <a:t>```</a:t>
            </a:r>
          </a:p>
          <a:p>
            <a:pPr/>
            <a:r>
              <a:t>为SQLRustGo数据库系统生成类图，要求：</a:t>
            </a:r>
          </a:p>
          <a:p>
            <a:pPr/>
            <a:r>
              <a:t>1. 包含核心类：Value, Token, Statement, Expression, Page, BufferPool, ExecutionEngine</a:t>
            </a:r>
          </a:p>
          <a:p>
            <a:pPr/>
            <a:r>
              <a:t>2. 标注类之间的关系：依赖、关联、组合</a:t>
            </a:r>
          </a:p>
          <a:p>
            <a:pPr/>
            <a:r>
              <a:t>3. 使用PlantUML语法</a:t>
            </a:r>
          </a:p>
          <a:p>
            <a:pPr/>
            <a:r>
              <a:t>4. 包含关键属性和方法</a:t>
            </a:r>
          </a:p>
          <a:p>
            <a:pPr/>
            <a:r>
              <a:t>```</a:t>
            </a:r>
          </a:p>
          <a:p>
            <a:pPr/>
            <a:r>
              <a:t>### 迭代优化</a:t>
            </a:r>
          </a:p>
          <a:p>
            <a:pPr/>
            <a:r>
              <a:t>1. AI生成初始版本</a:t>
            </a:r>
          </a:p>
          <a:p>
            <a:pPr/>
            <a:r>
              <a:t>2. 人工审查类设计</a:t>
            </a:r>
          </a:p>
          <a:p>
            <a:pPr/>
            <a:r>
              <a:t>3. 补充遗漏的关系</a:t>
            </a:r>
          </a:p>
          <a:p>
            <a:pPr/>
            <a:r>
              <a:t>4. 优化布局和命名</a:t>
            </a:r>
          </a:p>
          <a:p>
            <a:pPr/>
            <a:r>
              <a:t>---</a:t>
            </a:r>
          </a:p>
          <a:p>
            <a:pPr/>
            <a:r>
              <a:t># Part 4: 实践练习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4.1 绘制核心模块类图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任务</a:t>
            </a:r>
          </a:p>
          <a:p>
            <a:pPr/>
            <a:r>
              <a:t>1. 选择一个核心模块</a:t>
            </a:r>
          </a:p>
          <a:p>
            <a:pPr/>
            <a:r>
              <a:t>2. 识别类和关系</a:t>
            </a:r>
          </a:p>
          <a:p>
            <a:pPr/>
            <a:r>
              <a:t>3. 使用PlantUML绘制</a:t>
            </a:r>
          </a:p>
          <a:p>
            <a:pPr/>
            <a:r>
              <a:t>### 模块选择</a:t>
            </a:r>
          </a:p>
          <a:p>
            <a:pPr/>
            <a:r>
              <a:t>- Parser模块</a:t>
            </a:r>
          </a:p>
          <a:p>
            <a:pPr/>
            <a:r>
              <a:t>- Storage模块</a:t>
            </a:r>
          </a:p>
          <a:p>
            <a:pPr/>
            <a:r>
              <a:t>- Executor模块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4.2 设计评审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评审要点</a:t>
            </a:r>
          </a:p>
          <a:p>
            <a:pPr/>
            <a:r>
              <a:t>- 类职责是否单一？</a:t>
            </a:r>
          </a:p>
          <a:p>
            <a:pPr/>
            <a:r>
              <a:t>- 关系是否合理？</a:t>
            </a:r>
          </a:p>
          <a:p>
            <a:pPr/>
            <a:r>
              <a:t>- 是否符合SOLID原则？</a:t>
            </a:r>
          </a:p>
          <a:p>
            <a:pPr/>
            <a:r>
              <a:t>### 评审方法</a:t>
            </a:r>
          </a:p>
          <a:p>
            <a:pPr/>
            <a:r>
              <a:t>- 同行评审（Peer Review）</a:t>
            </a:r>
          </a:p>
          <a:p>
            <a:pPr/>
            <a:r>
              <a:t>- 设计评审会议</a:t>
            </a:r>
          </a:p>
          <a:p>
            <a:pPr/>
            <a:r>
              <a:t>- AI辅助评审</a:t>
            </a:r>
          </a:p>
          <a:p>
            <a:pPr/>
            <a:r>
              <a:t>---</a:t>
            </a:r>
          </a:p>
          <a:p>
            <a:pPr/>
            <a:r>
              <a:t># 核心知识点总结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面向对象设计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**封装、继承、多态**</a:t>
            </a:r>
          </a:p>
          <a:p>
            <a:pPr/>
            <a:r>
              <a:t>- **SOLID原则**</a:t>
            </a:r>
          </a:p>
          <a:p>
            <a:pPr/>
            <a:r>
              <a:t>- **设计模式基础**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类图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**类的组成**：属性、方法</a:t>
            </a:r>
          </a:p>
          <a:p>
            <a:pPr/>
            <a:r>
              <a:t>- **六种关系**：关联、聚合、组合、依赖、泛化、实现</a:t>
            </a:r>
          </a:p>
          <a:p>
            <a:pPr/>
            <a:r>
              <a:t>- **PlantUML语法**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SQLRustGo类设计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**核心类**：Value, Token, Statement, Page, ExecutionEngine</a:t>
            </a:r>
          </a:p>
          <a:p>
            <a:pPr/>
            <a:r>
              <a:t>- **类关系分析**</a:t>
            </a:r>
          </a:p>
          <a:p>
            <a:pPr/>
            <a:r>
              <a:t>- **AI辅助类图生成**</a:t>
            </a:r>
          </a:p>
          <a:p>
            <a:pPr/>
            <a:r>
              <a:t>---</a:t>
            </a:r>
          </a:p>
          <a:p>
            <a:pPr/>
            <a:r>
              <a:t># 课后作业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任务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完成SQLRustGo核心模块类图</a:t>
            </a:r>
          </a:p>
          <a:p>
            <a:pPr/>
            <a:r>
              <a:t>2. 分析类之间的关系</a:t>
            </a:r>
          </a:p>
          <a:p>
            <a:pPr/>
            <a:r>
              <a:t>3. 编写类设计文档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预习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顺序图、状态图</a:t>
            </a:r>
          </a:p>
          <a:p>
            <a:pPr/>
            <a:r>
              <a:t>- 架构图、部署图</a:t>
            </a:r>
          </a:p>
          <a:p>
            <a:pPr/>
            <a:r>
              <a:t>---</a:t>
            </a:r>
          </a:p>
          <a:p>
            <a:pPr/>
            <a:r>
              <a:t>&lt;!-- _class: lead --&gt;</a:t>
            </a:r>
          </a:p>
          <a:p>
            <a:pPr/>
            <a:r>
              <a:t># 谢谢！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下节课：顺序图、状态图与架构设计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
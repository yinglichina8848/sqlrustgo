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第13</a:t>
            </a:r>
          </a:p>
          <a:p>
            <a:r>
              <a:t>安全扫描与审计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AI增强的软件工程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---</a:t>
            </a:r>
          </a:p>
          <a:p>
            <a:pPr/>
            <a:r>
              <a:t># 课程大纲</a:t>
            </a:r>
          </a:p>
          <a:p>
            <a:pPr/>
            <a:r>
              <a:t>1. **软件安全概述**（25分钟）</a:t>
            </a:r>
          </a:p>
          <a:p>
            <a:pPr/>
            <a:r>
              <a:t>2. **依赖扫描**（25分钟）</a:t>
            </a:r>
          </a:p>
          <a:p>
            <a:pPr/>
            <a:r>
              <a:t>3. **代码扫描**（25分钟）</a:t>
            </a:r>
          </a:p>
          <a:p>
            <a:pPr/>
            <a:r>
              <a:t>4. **实践练习**（15分钟）</a:t>
            </a:r>
          </a:p>
          <a:p>
            <a:pPr/>
            <a:r>
              <a:t>---</a:t>
            </a:r>
          </a:p>
          <a:p>
            <a:pPr/>
            <a:r>
              <a:t># Part 1: 软件安全概述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1.1 What：什么是软件安全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保护软件系统免受恶意攻击和未授权访问</a:t>
            </a:r>
          </a:p>
          <a:p>
            <a:pPr/>
            <a:r>
              <a:t>### 安全目标</a:t>
            </a:r>
          </a:p>
          <a:p>
            <a:pPr/>
            <a:r>
              <a:t>- **机密性**：防止信息泄露</a:t>
            </a:r>
          </a:p>
          <a:p>
            <a:pPr/>
            <a:r>
              <a:t>- **完整性**：防止信息被篡改</a:t>
            </a:r>
          </a:p>
          <a:p>
            <a:pPr/>
            <a:r>
              <a:t>- **可用性**：保证系统可用</a:t>
            </a:r>
          </a:p>
          <a:p>
            <a:pPr/>
            <a:r>
              <a:t>### 常见安全威胁</a:t>
            </a:r>
          </a:p>
          <a:p>
            <a:pPr/>
            <a:r>
              <a:t>- SQL注入</a:t>
            </a:r>
          </a:p>
          <a:p>
            <a:pPr/>
            <a:r>
              <a:t>- 缓冲区溢出</a:t>
            </a:r>
          </a:p>
          <a:p>
            <a:pPr/>
            <a:r>
              <a:t>- 跨站脚本（XSS）</a:t>
            </a:r>
          </a:p>
          <a:p>
            <a:pPr/>
            <a:r>
              <a:t>- 跨站请求伪造（CSRF）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1.2 Why：为什么需要安全扫描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数据保护</a:t>
            </a:r>
          </a:p>
          <a:p>
            <a:pPr/>
            <a:r>
              <a:t>- 保护用户数据</a:t>
            </a:r>
          </a:p>
          <a:p>
            <a:pPr/>
            <a:r>
              <a:t>- 防止数据泄露</a:t>
            </a:r>
          </a:p>
          <a:p>
            <a:pPr/>
            <a:r>
              <a:t>- 符合隐私法规</a:t>
            </a:r>
          </a:p>
          <a:p>
            <a:pPr/>
            <a:r>
              <a:t>### 业务连续性</a:t>
            </a:r>
          </a:p>
          <a:p>
            <a:pPr/>
            <a:r>
              <a:t>- 防止攻击导致服务中断</a:t>
            </a:r>
          </a:p>
          <a:p>
            <a:pPr/>
            <a:r>
              <a:t>- 保证业务正常运行</a:t>
            </a:r>
          </a:p>
          <a:p>
            <a:pPr/>
            <a:r>
              <a:t>- 降低安全风险</a:t>
            </a:r>
          </a:p>
          <a:p>
            <a:pPr/>
            <a:r>
              <a:t>### 合规要求</a:t>
            </a:r>
          </a:p>
          <a:p>
            <a:pPr/>
            <a:r>
              <a:t>- 满足安全合规要求</a:t>
            </a:r>
          </a:p>
          <a:p>
            <a:pPr/>
            <a:r>
              <a:t>- 通过安全审计</a:t>
            </a:r>
          </a:p>
          <a:p>
            <a:pPr/>
            <a:r>
              <a:t>- 避免法律风险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1.3 How：安全扫描方法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静态分析（SAST）</a:t>
            </a:r>
          </a:p>
          <a:p>
            <a:pPr/>
            <a:r>
              <a:t>- 分析源代码</a:t>
            </a:r>
          </a:p>
          <a:p>
            <a:pPr/>
            <a:r>
              <a:t>- 发现潜在漏洞</a:t>
            </a:r>
          </a:p>
          <a:p>
            <a:pPr/>
            <a:r>
              <a:t>- 早期发现安全问题</a:t>
            </a:r>
          </a:p>
          <a:p>
            <a:pPr/>
            <a:r>
              <a:t>### 动态分析（DAST）</a:t>
            </a:r>
          </a:p>
          <a:p>
            <a:pPr/>
            <a:r>
              <a:t>- 运行时分析</a:t>
            </a:r>
          </a:p>
          <a:p>
            <a:pPr/>
            <a:r>
              <a:t>- 模拟攻击</a:t>
            </a:r>
          </a:p>
          <a:p>
            <a:pPr/>
            <a:r>
              <a:t>- 发现运行时漏洞</a:t>
            </a:r>
          </a:p>
          <a:p>
            <a:pPr/>
            <a:r>
              <a:t>### 依赖扫描（SCA）</a:t>
            </a:r>
          </a:p>
          <a:p>
            <a:pPr/>
            <a:r>
              <a:t>- 扫描第三方依赖</a:t>
            </a:r>
          </a:p>
          <a:p>
            <a:pPr/>
            <a:r>
              <a:t>- 发现已知漏洞</a:t>
            </a:r>
          </a:p>
          <a:p>
            <a:pPr/>
            <a:r>
              <a:t>- 及时更新依赖</a:t>
            </a:r>
          </a:p>
          <a:p>
            <a:pPr/>
            <a:r>
              <a:t>---</a:t>
            </a:r>
          </a:p>
          <a:p>
            <a:pPr/>
            <a:r>
              <a:t># Part 2: 依赖扫描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2.1 What：什么是依赖扫描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扫描项目依赖的第三方库，发现已知安全漏洞</a:t>
            </a:r>
          </a:p>
          <a:p>
            <a:pPr/>
            <a:r>
              <a:t>### 扫描内容</a:t>
            </a:r>
          </a:p>
          <a:p>
            <a:pPr/>
            <a:r>
              <a:t>- 直接依赖</a:t>
            </a:r>
          </a:p>
          <a:p>
            <a:pPr/>
            <a:r>
              <a:t>- 间接依赖</a:t>
            </a:r>
          </a:p>
          <a:p>
            <a:pPr/>
            <a:r>
              <a:t>- 许可证合规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2.2 Why：为什么需要依赖扫描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供应链攻击</a:t>
            </a:r>
          </a:p>
          <a:p>
            <a:pPr/>
            <a:r>
              <a:t>- 第三方库可能包含漏洞</a:t>
            </a:r>
          </a:p>
          <a:p>
            <a:pPr/>
            <a:r>
              <a:t>- 依赖越多，风险越大</a:t>
            </a:r>
          </a:p>
          <a:p>
            <a:pPr/>
            <a:r>
              <a:t>- 供应链攻击日益增多</a:t>
            </a:r>
          </a:p>
          <a:p>
            <a:pPr/>
            <a:r>
              <a:t>### 已知漏洞</a:t>
            </a:r>
          </a:p>
          <a:p>
            <a:pPr/>
            <a:r>
              <a:t>- CVE数据库记录已知漏洞</a:t>
            </a:r>
          </a:p>
          <a:p>
            <a:pPr/>
            <a:r>
              <a:t>- 及时发现和修复漏洞</a:t>
            </a:r>
          </a:p>
          <a:p>
            <a:pPr/>
            <a:r>
              <a:t>- 降低安全风险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2.3 How：依赖扫描工具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cargo-audit</a:t>
            </a:r>
          </a:p>
          <a:p>
            <a:pPr/>
            <a:r>
              <a:t>```bash</a:t>
            </a:r>
          </a:p>
          <a:p>
            <a:pPr/>
            <a:r>
              <a:t>cargo install cargo-audit</a:t>
            </a:r>
          </a:p>
          <a:p>
            <a:pPr/>
            <a:r>
              <a:t>cargo audit</a:t>
            </a:r>
          </a:p>
          <a:p>
            <a:pPr/>
            <a:r>
              <a:t>```</a:t>
            </a:r>
          </a:p>
          <a:p>
            <a:pPr/>
            <a:r>
              <a:t>### Dependabot</a:t>
            </a:r>
          </a:p>
          <a:p>
            <a:pPr/>
            <a:r>
              <a:t>- GitHub自动依赖更新</a:t>
            </a:r>
          </a:p>
          <a:p>
            <a:pPr/>
            <a:r>
              <a:t>- 自动创建PR</a:t>
            </a:r>
          </a:p>
          <a:p>
            <a:pPr/>
            <a:r>
              <a:t>- 自动更新依赖</a:t>
            </a:r>
          </a:p>
          <a:p>
            <a:pPr/>
            <a:r>
              <a:t>### Snyk</a:t>
            </a:r>
          </a:p>
          <a:p>
            <a:pPr/>
            <a:r>
              <a:t>- 依赖漏洞扫描</a:t>
            </a:r>
          </a:p>
          <a:p>
            <a:pPr/>
            <a:r>
              <a:t>- 许可证合规检查</a:t>
            </a:r>
          </a:p>
          <a:p>
            <a:pPr/>
            <a:r>
              <a:t>- 自动修复建议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2.4 SQLRustGo依赖扫描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Cargo.toml依赖</a:t>
            </a:r>
          </a:p>
          <a:p>
            <a:pPr/>
            <a:r>
              <a:t>```toml</a:t>
            </a:r>
          </a:p>
          <a:p>
            <a:pPr/>
            <a:r>
              <a:t>[dependencies]</a:t>
            </a:r>
          </a:p>
          <a:p>
            <a:pPr/>
            <a:r>
              <a:t>serde = { version = "1.0", features = ["derive"] }</a:t>
            </a:r>
          </a:p>
          <a:p>
            <a:pPr/>
            <a:r>
              <a:t>serde_json = "1.0"</a:t>
            </a:r>
          </a:p>
          <a:p>
            <a:pPr/>
            <a:r>
              <a:t>thiserror = "1.0"</a:t>
            </a:r>
          </a:p>
          <a:p>
            <a:pPr/>
            <a:r>
              <a:t>```</a:t>
            </a:r>
          </a:p>
          <a:p>
            <a:pPr/>
            <a:r>
              <a:t>### 扫描结果</a:t>
            </a:r>
          </a:p>
          <a:p>
            <a:pPr/>
            <a:r>
              <a:t>```</a:t>
            </a:r>
          </a:p>
          <a:p>
            <a:pPr/>
            <a:r>
              <a:t>Crate:     serde_json</a:t>
            </a:r>
          </a:p>
          <a:p>
            <a:pPr/>
            <a:r>
              <a:t>Version:   1.0.108</a:t>
            </a:r>
          </a:p>
          <a:p>
            <a:pPr/>
            <a:r>
              <a:t>Title:     Uncontrolled recursion in serde_json</a:t>
            </a:r>
          </a:p>
          <a:p>
            <a:pPr/>
            <a:r>
              <a:t>Date:      2024-01-01</a:t>
            </a:r>
          </a:p>
          <a:p>
            <a:pPr/>
            <a:r>
              <a:t>ID:        CVE-2024-XXXX</a:t>
            </a:r>
          </a:p>
          <a:p>
            <a:pPr/>
            <a:r>
              <a:t>Solution:  Upgrade to &gt;= 1.0.109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3: 代码扫描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What：什么是代码扫描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定义</a:t>
            </a:r>
          </a:p>
          <a:p>
            <a:pPr/>
            <a:r>
              <a:t>分析源代码，发现潜在的安全漏洞</a:t>
            </a:r>
          </a:p>
          <a:p>
            <a:pPr/>
            <a:r>
              <a:t>### 扫描内容</a:t>
            </a:r>
          </a:p>
          <a:p>
            <a:pPr/>
            <a:r>
              <a:t>- SQL注入</a:t>
            </a:r>
          </a:p>
          <a:p>
            <a:pPr/>
            <a:r>
              <a:t>- 缓冲区溢出</a:t>
            </a:r>
          </a:p>
          <a:p>
            <a:pPr/>
            <a:r>
              <a:t>- 敏感信息泄露</a:t>
            </a:r>
          </a:p>
          <a:p>
            <a:pPr/>
            <a:r>
              <a:t>- 不安全的加密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Why：为什么需要代码扫描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早期发现</a:t>
            </a:r>
          </a:p>
          <a:p>
            <a:pPr/>
            <a:r>
              <a:t>- 在开发阶段发现问题</a:t>
            </a:r>
          </a:p>
          <a:p>
            <a:pPr/>
            <a:r>
              <a:t>- 降低修复成本</a:t>
            </a:r>
          </a:p>
          <a:p>
            <a:pPr/>
            <a:r>
              <a:t>- 提高代码质量</a:t>
            </a:r>
          </a:p>
          <a:p>
            <a:pPr/>
            <a:r>
              <a:t>### 自动化</a:t>
            </a:r>
          </a:p>
          <a:p>
            <a:pPr/>
            <a:r>
              <a:t>- 自动扫描代码</a:t>
            </a:r>
          </a:p>
          <a:p>
            <a:pPr/>
            <a:r>
              <a:t>- 减少人工审查</a:t>
            </a:r>
          </a:p>
          <a:p>
            <a:pPr/>
            <a:r>
              <a:t>- 提高效率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How：代码扫描工具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Clippy安全检查</a:t>
            </a:r>
          </a:p>
          <a:p>
            <a:pPr/>
            <a:r>
              <a:t>```bash</a:t>
            </a:r>
          </a:p>
          <a:p>
            <a:pPr/>
            <a:r>
              <a:t>cargo clippy -- -W clippy::all</a:t>
            </a:r>
          </a:p>
          <a:p>
            <a:pPr/>
            <a:r>
              <a:t>```</a:t>
            </a:r>
          </a:p>
          <a:p>
            <a:pPr/>
            <a:r>
              <a:t>### SonarQube</a:t>
            </a:r>
          </a:p>
          <a:p>
            <a:pPr/>
            <a:r>
              <a:t>- 代码质量和安全扫描</a:t>
            </a:r>
          </a:p>
          <a:p>
            <a:pPr/>
            <a:r>
              <a:t>- 支持多种语言</a:t>
            </a:r>
          </a:p>
          <a:p>
            <a:pPr/>
            <a:r>
              <a:t>- 集成CI/CD</a:t>
            </a:r>
          </a:p>
          <a:p>
            <a:pPr/>
            <a:r>
              <a:t>### CodeQL</a:t>
            </a:r>
          </a:p>
          <a:p>
            <a:pPr/>
            <a:r>
              <a:t>- GitHub代码扫描</a:t>
            </a:r>
          </a:p>
          <a:p>
            <a:pPr/>
            <a:r>
              <a:t>- 查询语言</a:t>
            </a:r>
          </a:p>
          <a:p>
            <a:pPr/>
            <a:r>
              <a:t>- 自定义规则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SQLRustGo代码扫描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SQL注入检查</a:t>
            </a:r>
          </a:p>
          <a:p>
            <a:pPr/>
            <a:r>
              <a:t>```rust</a:t>
            </a:r>
          </a:p>
          <a:p>
            <a:pPr/>
            <a:r>
              <a:t>// ❌ 不安全</a:t>
            </a:r>
          </a:p>
          <a:p>
            <a:pPr/>
            <a:r>
              <a:t>fn query(user_input: &amp;str) -&gt; Result&lt;QueryResult&gt; {</a:t>
            </a:r>
          </a:p>
          <a:p>
            <a:pPr/>
            <a:r>
              <a:t>let sql = format!("SELECT * FROM users WHERE name = '{}'", user_input);</a:t>
            </a:r>
          </a:p>
          <a:p>
            <a:pPr/>
            <a:r>
              <a:t>execute(&amp;sql)</a:t>
            </a:r>
          </a:p>
          <a:p>
            <a:pPr/>
            <a:r>
              <a:t>}</a:t>
            </a:r>
          </a:p>
          <a:p>
            <a:pPr/>
            <a:r>
              <a:t>// ✅ 安全</a:t>
            </a:r>
          </a:p>
          <a:p>
            <a:pPr/>
            <a:r>
              <a:t>fn query(user_input: &amp;str) -&gt; Result&lt;QueryResult&gt; {</a:t>
            </a:r>
          </a:p>
          <a:p>
            <a:pPr/>
            <a:r>
              <a:t>let sql = "SELECT * FROM users WHERE name = ?";</a:t>
            </a:r>
          </a:p>
          <a:p>
            <a:pPr/>
            <a:r>
              <a:t>execute_with_params(sql, &amp;[user_input])</a:t>
            </a:r>
          </a:p>
          <a:p>
            <a:pPr/>
            <a:r>
              <a:t>}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3.4 SQLRustGo代码扫描（续）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敏感信息检查</a:t>
            </a:r>
          </a:p>
          <a:p>
            <a:pPr/>
            <a:r>
              <a:t>```rust</a:t>
            </a:r>
          </a:p>
          <a:p>
            <a:pPr/>
            <a:r>
              <a:t>// ❌ 不安全</a:t>
            </a:r>
          </a:p>
          <a:p>
            <a:pPr/>
            <a:r>
              <a:t>let password = "hardcoded_password";</a:t>
            </a:r>
          </a:p>
          <a:p>
            <a:pPr/>
            <a:r>
              <a:t>// ✅ 安全</a:t>
            </a:r>
          </a:p>
          <a:p>
            <a:pPr/>
            <a:r>
              <a:t>let password = std::env::var("DB_PASSWORD")?;</a:t>
            </a:r>
          </a:p>
          <a:p>
            <a:pPr/>
            <a:r>
              <a:t>```</a:t>
            </a:r>
          </a:p>
          <a:p>
            <a:pPr/>
            <a:r>
              <a:t>### 加密检查</a:t>
            </a:r>
          </a:p>
          <a:p>
            <a:pPr/>
            <a:r>
              <a:t>```rust</a:t>
            </a:r>
          </a:p>
          <a:p>
            <a:pPr/>
            <a:r>
              <a:t>// ❌ 不安全</a:t>
            </a:r>
          </a:p>
          <a:p>
            <a:pPr/>
            <a:r>
              <a:t>use md5;</a:t>
            </a:r>
          </a:p>
          <a:p>
            <a:pPr/>
            <a:r>
              <a:t>// ✅ 安全</a:t>
            </a:r>
          </a:p>
          <a:p>
            <a:pPr/>
            <a:r>
              <a:t>use sha2::{Sha256, Digest};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Part 4: 实践练习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依赖扫描实践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安装cargo-audit</a:t>
            </a:r>
          </a:p>
          <a:p>
            <a:pPr/>
            <a:r>
              <a:t>2. 扫描项目依赖</a:t>
            </a:r>
          </a:p>
          <a:p>
            <a:pPr/>
            <a:r>
              <a:t>3. 修复发现的漏洞</a:t>
            </a:r>
          </a:p>
          <a:p>
            <a:pPr/>
            <a:r>
              <a:t>### 命令</a:t>
            </a:r>
          </a:p>
          <a:p>
            <a:pPr/>
            <a:r>
              <a:t>```bash</a:t>
            </a:r>
          </a:p>
          <a:p>
            <a:pPr/>
            <a:r>
              <a:t>cargo install cargo-audit</a:t>
            </a:r>
          </a:p>
          <a:p>
            <a:pPr/>
            <a:r>
              <a:t>cargo audit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代码扫描实践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### 任务</a:t>
            </a:r>
          </a:p>
          <a:p>
            <a:pPr/>
            <a:r>
              <a:t>1. 运行Clippy安全检查</a:t>
            </a:r>
          </a:p>
          <a:p>
            <a:pPr/>
            <a:r>
              <a:t>2. 修复发现的问题</a:t>
            </a:r>
          </a:p>
          <a:p>
            <a:pPr/>
            <a:r>
              <a:t>3. 提交修复代码</a:t>
            </a:r>
          </a:p>
          <a:p>
            <a:pPr/>
            <a:r>
              <a:t>### 命令</a:t>
            </a:r>
          </a:p>
          <a:p>
            <a:pPr/>
            <a:r>
              <a:t>```bash</a:t>
            </a:r>
          </a:p>
          <a:p>
            <a:pPr/>
            <a:r>
              <a:t>cargo clippy -- -W clippy::all</a:t>
            </a:r>
          </a:p>
          <a:p>
            <a:pPr/>
            <a:r>
              <a:t>```</a:t>
            </a:r>
          </a:p>
          <a:p>
            <a:pPr/>
            <a:r>
              <a:t>---</a:t>
            </a:r>
          </a:p>
          <a:p>
            <a:pPr/>
            <a:r>
              <a:t># 核心知识点总结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软件安全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**What**：保护软件系统免受攻击</a:t>
            </a:r>
          </a:p>
          <a:p>
            <a:pPr/>
            <a:r>
              <a:t>- **Why**：数据保护、业务连续性、合规要求</a:t>
            </a:r>
          </a:p>
          <a:p>
            <a:pPr/>
            <a:r>
              <a:t>- **How**：SAST、DAST、SCA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依赖扫描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**What**：扫描第三方依赖漏洞</a:t>
            </a:r>
          </a:p>
          <a:p>
            <a:pPr/>
            <a:r>
              <a:t>- **Why**：供应链攻击、已知漏洞</a:t>
            </a:r>
          </a:p>
          <a:p>
            <a:pPr/>
            <a:r>
              <a:t>- **How**：cargo-audit、Dependabot、Snyk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代码扫描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**What**：分析源代码发现漏洞</a:t>
            </a:r>
          </a:p>
          <a:p>
            <a:pPr/>
            <a:r>
              <a:t>- **Why**：早期发现、自动化</a:t>
            </a:r>
          </a:p>
          <a:p>
            <a:pPr/>
            <a:r>
              <a:t>- **How**：Clippy、SonarQube、CodeQL</a:t>
            </a:r>
          </a:p>
          <a:p>
            <a:pPr/>
            <a:r>
              <a:t>---</a:t>
            </a:r>
          </a:p>
          <a:p>
            <a:pPr/>
            <a:r>
              <a:t># 课后作业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任务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执行依赖扫描</a:t>
            </a:r>
          </a:p>
          <a:p>
            <a:pPr/>
            <a:r>
              <a:t>2. 执行代码扫描</a:t>
            </a:r>
          </a:p>
          <a:p>
            <a:pPr/>
            <a:r>
              <a:t>3. 修复发现的安全问题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发布门禁与检查清单</a:t>
            </a:r>
          </a:p>
          <a:p>
            <a:pPr/>
            <a:r>
              <a:t>- RC版本验收</a:t>
            </a:r>
          </a:p>
          <a:p>
            <a:pPr/>
            <a:r>
              <a:t>---</a:t>
            </a:r>
          </a:p>
          <a:p>
            <a:pPr/>
            <a:r>
              <a:t>&lt;!-- _class: lead --&gt;</a:t>
            </a:r>
          </a:p>
          <a:p>
            <a:pPr/>
            <a:r>
              <a:t># 谢谢！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下节课：发布门禁与检查清单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
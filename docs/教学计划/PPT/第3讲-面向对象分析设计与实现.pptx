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marp: true theme: gaia paginate: true backgroundColor: #fff color: #333 ———–</a:t>
            </a:r>
          </a:p>
          <a:p>
            <a:pPr lvl="0" indent="0" marL="0">
              <a:buNone/>
            </a:pPr>
            <a:r>
              <a:rPr/>
              <a:t>页面：真实 背景颜色：#fff color: #333 style: | 部分 { font-family: ‘微软雅黑’, ‘苹果SC’, sans-serif; 字体大小：24px； } h1 { 字体大小：48px； 颜色：#2c3e50； } h2 { 字体大小：36px； 颜色：#34495e； } h3 { 字体大小：28px； 颜色：#7f8c8d； } 强的 { 颜色：#e74c3c； } code { 字体系列：‘Consolas’、‘Monaco’、等宽字体； 背景：#f4f4f4； 内边距：2px 6px； 边框半径：3px； } pre { 背景：#2c3e50； 颜色：#ecf0f1； 内边距：15px； 边框半径：5px； } table { 边界崩溃：崩溃； width: 100%; } th, td { 边框：1px实线#ddd； 内边距：8px； 文本对齐：左对齐； } th { 背景颜色：#f2f2f2； } -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第三讲：面向对象分析、设计与实现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软件工程方法论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课程大纲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面向对象核心概念（15分钟）</a:t>
            </a:r>
          </a:p>
          <a:p>
            <a:pPr lvl="0" indent="-342900" marL="342900">
              <a:buAutoNum type="arabicPeriod"/>
            </a:pPr>
            <a:r>
              <a:rPr/>
              <a:t>面向对象分析（OOA）方法（20分钟）</a:t>
            </a:r>
          </a:p>
          <a:p>
            <a:pPr lvl="0" indent="-342900" marL="342900">
              <a:buAutoNum type="arabicPeriod"/>
            </a:pPr>
            <a:r>
              <a:rPr/>
              <a:t>面向对象设计（OOD）方法（20分钟）</a:t>
            </a:r>
          </a:p>
          <a:p>
            <a:pPr lvl="0" indent="-342900" marL="342900">
              <a:buAutoNum type="arabicPeriod"/>
            </a:pPr>
            <a:r>
              <a:rPr/>
              <a:t>SOLID 设计原则（15分钟）</a:t>
            </a:r>
          </a:p>
          <a:p>
            <a:pPr lvl="0" indent="-342900" marL="342900">
              <a:buAutoNum type="arabicPeriod"/>
            </a:pPr>
            <a:r>
              <a:rPr/>
              <a:t>类图规范与实践（20分钟）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1: 面向对象核心概念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1.1 为什么需要面向对象？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软件开发的挑战</a:t>
            </a:r>
          </a:p>
          <a:p>
            <a:pPr lvl="0"/>
            <a:r>
              <a:rPr b="1"/>
              <a:t>复杂性</a:t>
            </a:r>
            <a:r>
              <a:rPr/>
              <a:t>：系统规模日益增长</a:t>
            </a:r>
          </a:p>
          <a:p>
            <a:pPr lvl="0"/>
            <a:r>
              <a:rPr b="1"/>
              <a:t>变化性</a:t>
            </a:r>
            <a:r>
              <a:rPr/>
              <a:t>：需求持续演进</a:t>
            </a:r>
          </a:p>
          <a:p>
            <a:pPr lvl="0"/>
            <a:r>
              <a:rPr b="1"/>
              <a:t>协作性</a:t>
            </a:r>
            <a:r>
              <a:rPr/>
              <a:t>：团队分布式开发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面向对象的解决方案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概念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封装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隐藏实现，降低复杂度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复用代码，建立层次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同一接口，多种实现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1.2 封装（Encapsulation）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将数据和操作捆绑在一起，对外隐藏实现细节。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┌─────────────────┐
│      对象        │
│  ┌───────────┐  │
│  │  内部状态  │  │ → 私有
│  └───────────┘  │
│  ┌───────────┐  │
│  │  公开方法  │  │ → 公有接口
│  └───────────┘  │
└─────────────────┘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优点</a:t>
            </a:r>
          </a:p>
          <a:p>
            <a:pPr lvl="0"/>
            <a:r>
              <a:rPr/>
              <a:t>信息隐藏</a:t>
            </a:r>
          </a:p>
          <a:p>
            <a:pPr lvl="0"/>
            <a:r>
              <a:rPr/>
              <a:t>降低耦合</a:t>
            </a:r>
          </a:p>
          <a:p>
            <a:pPr lvl="0"/>
            <a:r>
              <a:rPr/>
              <a:t>易于维护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1.3 继承（Inheritance）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通过”is-a”关系复用父类代码。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┌─────────┐
│  动物   │ ← 基类
└─────────┘
    ↑ ↓
┌─────────┐ ┌─────────┐
│   狗    │ │   猫    │ ← 派生类
└─────────┘ └─────────┘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继承类型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关键字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多个接口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1.4 多态（Polymorphism）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同一接口，不同实现。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Drawable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Circle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Square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Drawable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Circle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画圆 */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Drawable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Square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画方 */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2: 面向对象分析（OOA）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 OOA 目标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核心问题</a:t>
            </a:r>
          </a:p>
          <a:p>
            <a:pPr lvl="0"/>
            <a:r>
              <a:rPr b="1"/>
              <a:t>做什么</a:t>
            </a:r>
            <a:r>
              <a:rPr/>
              <a:t>？系统功能</a:t>
            </a:r>
          </a:p>
          <a:p>
            <a:pPr lvl="0"/>
            <a:r>
              <a:rPr b="1"/>
              <a:t>谁参与</a:t>
            </a:r>
            <a:r>
              <a:rPr/>
              <a:t>？参与者和角色</a:t>
            </a:r>
          </a:p>
          <a:p>
            <a:pPr lvl="0"/>
            <a:r>
              <a:rPr b="1"/>
              <a:t>做什么</a:t>
            </a:r>
            <a:r>
              <a:rPr/>
              <a:t>？业务实体</a:t>
            </a:r>
          </a:p>
          <a:p>
            <a:pPr lvl="0"/>
            <a:r>
              <a:rPr b="1"/>
              <a:t>如何运作</a:t>
            </a:r>
            <a:r>
              <a:rPr/>
              <a:t>？流程和规则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OOA 产出</a:t>
            </a:r>
          </a:p>
          <a:p>
            <a:pPr lvl="0"/>
            <a:r>
              <a:rPr/>
              <a:t>概念模型</a:t>
            </a:r>
          </a:p>
          <a:p>
            <a:pPr lvl="0"/>
            <a:r>
              <a:rPr/>
              <a:t>用例图</a:t>
            </a:r>
          </a:p>
          <a:p>
            <a:pPr lvl="0"/>
            <a:r>
              <a:rPr/>
              <a:t>对象关系图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对象发现方法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名词短语分析法</a:t>
            </a:r>
          </a:p>
          <a:p>
            <a:pPr lvl="0" indent="0" marL="0">
              <a:buNone/>
            </a:pPr>
            <a:r>
              <a:rPr b="1"/>
              <a:t>步骤</a:t>
            </a:r>
            <a:r>
              <a:rPr/>
              <a:t>：</a:t>
            </a:r>
          </a:p>
          <a:p>
            <a:pPr lvl="0" indent="-342900" marL="342900">
              <a:buAutoNum type="arabicPeriod"/>
            </a:pPr>
            <a:r>
              <a:rPr/>
              <a:t>提取需求中的名词</a:t>
            </a:r>
          </a:p>
          <a:p>
            <a:pPr lvl="0" indent="-342900" marL="342900">
              <a:buAutoNum type="arabicPeriod"/>
            </a:pPr>
            <a:r>
              <a:rPr/>
              <a:t>筛选核心对象</a:t>
            </a:r>
          </a:p>
          <a:p>
            <a:pPr lvl="0" indent="-342900" marL="342900">
              <a:buAutoNum type="arabicPeriod"/>
            </a:pPr>
            <a:r>
              <a:rPr/>
              <a:t>确定对象属性</a:t>
            </a:r>
          </a:p>
          <a:p>
            <a:pPr lvl="0" indent="-342900" marL="342900">
              <a:buAutoNum type="arabicPeriod"/>
            </a:pPr>
            <a:r>
              <a:rPr/>
              <a:t>识别对象关系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 marL="0">
              <a:buNone/>
            </a:pPr>
            <a:r>
              <a:rPr/>
              <a:t>需求：“学生可以借阅图书，系统记录借阅信息。”</a:t>
            </a:r>
          </a:p>
          <a:p>
            <a:pPr lvl="0" indent="0" marL="0">
              <a:buNone/>
            </a:pPr>
            <a:r>
              <a:rPr b="1"/>
              <a:t>核心对象</a:t>
            </a:r>
            <a:r>
              <a:rPr/>
              <a:t>：学生、图书、借阅记录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对象关系识别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关系类型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 → 借阅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班级 → 学生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强整体-部分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订单 → 订单项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泛化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一般-特殊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动物 → 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3: 面向对象设计（OOD）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3.1 OOD 任务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设计内容</a:t>
            </a:r>
          </a:p>
          <a:p>
            <a:pPr lvl="0"/>
            <a:r>
              <a:rPr/>
              <a:t>定义类（属性、方法）</a:t>
            </a:r>
          </a:p>
          <a:p>
            <a:pPr lvl="0"/>
            <a:r>
              <a:rPr/>
              <a:t>设计接口</a:t>
            </a:r>
          </a:p>
          <a:p>
            <a:pPr lvl="0"/>
            <a:r>
              <a:rPr/>
              <a:t>建立关系</a:t>
            </a:r>
          </a:p>
          <a:p>
            <a:pPr lvl="0"/>
            <a:r>
              <a:rPr/>
              <a:t>满足质量属性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从分析到设计</a:t>
            </a:r>
          </a:p>
          <a:p>
            <a:pPr lvl="0" indent="0">
              <a:buNone/>
            </a:pPr>
            <a:r>
              <a:rPr>
                <a:latin typeface="Courier"/>
              </a:rPr>
              <a:t>OOA (概念) → OOD (解决方案) → OOP (代码)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类设计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类的组成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┌─────────────────────────────────┐
│           类名                   │
├─────────────────────────────────┤
│ - 属性1: 类型                   │
│ - 属性2: 类型                   │
├─────────────────────────────────┤
│ + 方法1(参数): 返回类型         │
│ + 方法2(参数): 返回类型          │
└─────────────────────────────────┘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可见性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private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自身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3.3 SOLID 原则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五大原则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原则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单一职责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一个类只做一件事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开闭原则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对扩展开放，对修改关闭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里氏替换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子类可以替换父类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接口隔离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接口要小而专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依赖倒置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依赖抽象，不依赖具体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 - 单一职责（SRP）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错误：同时处理解析和验证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Parser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正确：职责分离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Lexer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Parser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lexer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Lexer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Validator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 - 开闭原则（OCP）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✅ 对扩展开放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read(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key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Option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Value</a:t>
            </a:r>
            <a:r>
              <a:rPr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MemoryStorage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DiskStorage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 - 依赖倒置（DIP）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依赖抽象接口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QueryExecutor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Storage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storage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4: 类图规范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 类图元素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基本元素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元素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表示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矩形（三格）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⟨⟨interface⟩⟩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线 + 箭头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类图六种关系</a:t>
            </a:r>
          </a:p>
          <a:p>
            <a:pPr lvl="0" indent="0">
              <a:buNone/>
            </a:pPr>
            <a:r>
              <a:rPr>
                <a:latin typeface="Courier"/>
              </a:rPr>
              <a:t>继承 ──▶     实现 - -▶
关联 ────→   依赖 .──▶
聚合 ◇──     组合 ◆──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4.2 关系详解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继承 vs 实现</a:t>
            </a:r>
          </a:p>
          <a:p>
            <a:pPr lvl="0" indent="0">
              <a:buNone/>
            </a:pPr>
            <a:r>
              <a:rPr>
                <a:latin typeface="Courier"/>
              </a:rPr>
              <a:t>继承 (泛化)          实现
    A                   A
    │                   ⟨⟨interface⟩⟩
    ▼                   │
    B                B
(is-a)             (can-do)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关联 vs 依赖</a:t>
            </a:r>
          </a:p>
          <a:p>
            <a:pPr lvl="0" indent="0">
              <a:buNone/>
            </a:pPr>
            <a:r>
              <a:rPr>
                <a:latin typeface="Courier"/>
              </a:rPr>
              <a:t>关联                   依赖
A ────────→ B     A .─────→ B
长期引用             临时使用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聚合 vs 组合</a:t>
            </a:r>
          </a:p>
          <a:p>
            <a:pPr lvl="0" indent="0">
              <a:buNone/>
            </a:pPr>
            <a:r>
              <a:rPr>
                <a:latin typeface="Courier"/>
              </a:rPr>
              <a:t>聚合 (可分离)        组合 (不可分)
汽车 ◇── 轮胎      订单 ◆── 订单项
生命周期独立        生命周期绑定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4.3 类图示例</a:t>
            </a:r>
          </a:p>
          <a:p>
            <a:pPr lvl="0" indent="0">
              <a:buNone/>
            </a:pPr>
            <a:r>
              <a:rPr>
                <a:latin typeface="Courier"/>
              </a:rPr>
              <a:t>classDiagram
    class User {
        -id: int
        -name: String
        +login()
        +logout()
    }
    class Book {
        -isbn: String
        -title: String
    }
    class BorrowRecord {
        -borrowDate: Date
        -returnDate: Date
    }
    User "1" --&gt; "*" BorrowRecord
    Book "1" --&gt; "*" BorrowRecord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5: 实践练习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5.1 练习题目</a:t>
            </a:r>
          </a:p>
          <a:p>
            <a:pPr lvl="0" indent="0" marL="0">
              <a:buNone/>
            </a:pPr>
            <a:r>
              <a:rPr/>
              <a:t>为”图书管理系统”设计类图：</a:t>
            </a:r>
          </a:p>
          <a:p>
            <a:pPr lvl="0" indent="0" marL="0">
              <a:buNone/>
            </a:pPr>
            <a:r>
              <a:rPr b="1"/>
              <a:t>需求</a:t>
            </a:r>
            <a:r>
              <a:rPr/>
              <a:t>：</a:t>
            </a:r>
          </a:p>
          <a:p>
            <a:pPr lvl="0"/>
            <a:r>
              <a:rPr/>
              <a:t>学生和教师可以借书</a:t>
            </a:r>
          </a:p>
          <a:p>
            <a:pPr lvl="0"/>
            <a:r>
              <a:rPr/>
              <a:t>图书有 isbn、标题、作者</a:t>
            </a:r>
          </a:p>
          <a:p>
            <a:pPr lvl="0"/>
            <a:r>
              <a:rPr/>
              <a:t>记录借阅历史</a:t>
            </a:r>
          </a:p>
          <a:p>
            <a:pPr lvl="0" indent="0" marL="0">
              <a:buNone/>
            </a:pPr>
            <a:r>
              <a:rPr b="1"/>
              <a:t>任务</a:t>
            </a:r>
            <a:r>
              <a:rPr/>
              <a:t>：</a:t>
            </a:r>
          </a:p>
          <a:p>
            <a:pPr lvl="0" indent="-342900" marL="342900">
              <a:buAutoNum type="arabicPeriod"/>
            </a:pPr>
            <a:r>
              <a:rPr/>
              <a:t>识别核心对象</a:t>
            </a:r>
          </a:p>
          <a:p>
            <a:pPr lvl="0" indent="-342900" marL="342900">
              <a:buAutoNum type="arabicPeriod"/>
            </a:pPr>
            <a:r>
              <a:rPr/>
              <a:t>确定关系和多重性</a:t>
            </a:r>
          </a:p>
          <a:p>
            <a:pPr lvl="0" indent="-342900" marL="342900">
              <a:buAutoNum type="arabicPeriod"/>
            </a:pPr>
            <a:r>
              <a:rPr/>
              <a:t>绘制类图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5.2 评分标准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检查点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对象识别正确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关系类型准确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多重性标注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可见性标注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代码可运行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总结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核心要点</a:t>
            </a:r>
          </a:p>
          <a:p>
            <a:pPr lvl="0" indent="-342900" marL="342900">
              <a:buAutoNum type="arabicPeriod"/>
            </a:pPr>
            <a:r>
              <a:rPr b="1"/>
              <a:t>封装、继承、多态</a:t>
            </a:r>
            <a:r>
              <a:rPr/>
              <a:t> - 面向对象三要素</a:t>
            </a:r>
          </a:p>
          <a:p>
            <a:pPr lvl="0" indent="-342900" marL="342900">
              <a:buAutoNum type="arabicPeriod"/>
            </a:pPr>
            <a:r>
              <a:rPr b="1"/>
              <a:t>OOA → OOD → OOP</a:t>
            </a:r>
            <a:r>
              <a:rPr/>
              <a:t> - 完整开发流程</a:t>
            </a:r>
          </a:p>
          <a:p>
            <a:pPr lvl="0" indent="-342900" marL="342900">
              <a:buAutoNum type="arabicPeriod"/>
            </a:pPr>
            <a:r>
              <a:rPr b="1"/>
              <a:t>SOLID 原则</a:t>
            </a:r>
            <a:r>
              <a:rPr/>
              <a:t> - 高质量设计指南</a:t>
            </a:r>
          </a:p>
          <a:p>
            <a:pPr lvl="0" indent="-342900" marL="342900">
              <a:buAutoNum type="arabicPeriod"/>
            </a:pPr>
            <a:r>
              <a:rPr b="1"/>
              <a:t>类图</a:t>
            </a:r>
            <a:r>
              <a:rPr/>
              <a:t> - 静态结构建模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下节预告</a:t>
            </a:r>
          </a:p>
          <a:p>
            <a:pPr lvl="0"/>
            <a:r>
              <a:rPr/>
              <a:t>第四讲：UML 规范与图例</a:t>
            </a:r>
          </a:p>
          <a:p>
            <a:pPr lvl="0"/>
            <a:r>
              <a:rPr/>
              <a:t>顺序图、活动图、状态图</a:t>
            </a:r>
          </a:p>
          <a:p>
            <a:pPr lvl="0"/>
            <a:r>
              <a:rPr/>
              <a:t>架构图与部署图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谢谢！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2026-03-15T16:34:14Z</dcterms:created>
  <dcterms:modified xsi:type="dcterms:W3CDTF">2026-03-15T16:34:14Z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
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第三讲：面向对象分析、设计与实现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从结构化到面向对象的方法演进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以高校图书借阅系统为例</a:t>
            </a:r>
          </a:p>
          <a:p>
            <a:pPr lvl="0" indent="0" marL="0">
              <a:buNone/>
            </a:pPr>
            <a:r>
              <a:rPr b="1"/>
              <a:t>80分钟 | 两节课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课程大纲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第一节课（40分钟）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方法学演进：从结构化到面向对象（10分钟）</a:t>
            </a:r>
          </a:p>
          <a:p>
            <a:pPr lvl="0" indent="-342900" marL="342900">
              <a:buAutoNum type="arabicPeriod"/>
            </a:pPr>
            <a:r>
              <a:rPr/>
              <a:t>面向对象核心概念（15分钟）</a:t>
            </a:r>
          </a:p>
          <a:p>
            <a:pPr lvl="0" indent="-342900" marL="342900">
              <a:buAutoNum type="arabicPeriod"/>
            </a:pPr>
            <a:r>
              <a:rPr/>
              <a:t>面向对象分析（OOA）- 用用例图捕获需求（15分钟）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第二节课（40分钟）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面向对象分析（OOA）- 概念类图（10分钟）</a:t>
            </a:r>
          </a:p>
          <a:p>
            <a:pPr lvl="0" indent="-342900" marL="342900">
              <a:buAutoNum startAt="4" type="arabicPeriod"/>
            </a:pPr>
            <a:r>
              <a:rPr/>
              <a:t>从分析到设计的过渡（5分钟）</a:t>
            </a:r>
          </a:p>
          <a:p>
            <a:pPr lvl="0" indent="-342900" marL="342900">
              <a:buAutoNum startAt="4" type="arabicPeriod"/>
            </a:pPr>
            <a:r>
              <a:rPr/>
              <a:t>面向对象设计（OOD）方法（10分钟）</a:t>
            </a:r>
          </a:p>
          <a:p>
            <a:pPr lvl="0" indent="-342900" marL="342900">
              <a:buAutoNum startAt="4" type="arabicPeriod"/>
            </a:pPr>
            <a:r>
              <a:rPr/>
              <a:t>SOLID 设计原则（15分钟）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一、方法学演进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软件危机与结构化方法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1960s-1970s：软件危机</a:t>
            </a:r>
          </a:p>
          <a:p>
            <a:pPr lvl="0"/>
            <a:r>
              <a:rPr/>
              <a:t>软件规模爆炸，项目延期</a:t>
            </a:r>
          </a:p>
          <a:p>
            <a:pPr lvl="0"/>
            <a:r>
              <a:rPr/>
              <a:t>质量低劣，维护困难</a:t>
            </a:r>
          </a:p>
          <a:p>
            <a:pPr lvl="0"/>
            <a:r>
              <a:rPr/>
              <a:t>“软件危机”一词出现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结构化方法应运而生</a:t>
            </a:r>
          </a:p>
          <a:p>
            <a:pPr lvl="0"/>
            <a:r>
              <a:rPr b="1"/>
              <a:t>自顶向下、逐步求精</a:t>
            </a:r>
          </a:p>
          <a:p>
            <a:pPr lvl="0"/>
            <a:r>
              <a:rPr b="1"/>
              <a:t>三视图建模</a:t>
            </a:r>
            <a:r>
              <a:rPr/>
              <a:t>：</a:t>
            </a:r>
          </a:p>
          <a:p>
            <a:pPr lvl="1"/>
            <a:r>
              <a:rPr/>
              <a:t>功能建模：数据流图（DFD）</a:t>
            </a:r>
          </a:p>
          <a:p>
            <a:pPr lvl="1"/>
            <a:r>
              <a:rPr/>
              <a:t>数据建模：实体-关系图（ERD）</a:t>
            </a:r>
          </a:p>
          <a:p>
            <a:pPr lvl="1"/>
            <a:r>
              <a:rPr/>
              <a:t>行为建模：流程图、状态图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优点 vs 缺陷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缺陷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适合中小规模系统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数据和操作分离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模块化设计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难以应对需求变化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数据处理型系统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小改动影响全局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图形化界面催生面向对象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1980s：图形操作系统普及</a:t>
            </a:r>
          </a:p>
          <a:p>
            <a:pPr lvl="0"/>
            <a:r>
              <a:rPr/>
              <a:t>Macintosh (1984)</a:t>
            </a:r>
          </a:p>
          <a:p>
            <a:pPr lvl="0"/>
            <a:r>
              <a:rPr/>
              <a:t>Windows (1985)</a:t>
            </a:r>
          </a:p>
          <a:p>
            <a:pPr lvl="0"/>
            <a:r>
              <a:rPr/>
              <a:t>窗口、按钮、菜单等界面元素涌现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面向对象的天然契合</a:t>
            </a:r>
          </a:p>
          <a:p>
            <a:pPr lvl="0"/>
            <a:r>
              <a:rPr/>
              <a:t>界面元素可建模为</a:t>
            </a:r>
            <a:r>
              <a:rPr b="1"/>
              <a:t>对象</a:t>
            </a:r>
          </a:p>
          <a:p>
            <a:pPr lvl="0"/>
            <a:r>
              <a:rPr/>
              <a:t>每个元素既有</a:t>
            </a:r>
            <a:r>
              <a:rPr b="1"/>
              <a:t>状态</a:t>
            </a:r>
            <a:r>
              <a:rPr/>
              <a:t>又有</a:t>
            </a:r>
            <a:r>
              <a:rPr b="1"/>
              <a:t>行为</a:t>
            </a:r>
          </a:p>
          <a:p>
            <a:pPr lvl="0"/>
            <a:r>
              <a:rPr/>
              <a:t>对象间通过</a:t>
            </a:r>
            <a:r>
              <a:rPr b="1"/>
              <a:t>消息通信</a:t>
            </a:r>
          </a:p>
          <a:p>
            <a:pPr lvl="0"/>
            <a:r>
              <a:rPr b="1"/>
              <a:t>继承</a:t>
            </a:r>
            <a:r>
              <a:rPr/>
              <a:t>复用界面元素</a:t>
            </a:r>
          </a:p>
          <a:p>
            <a:pPr lvl="0"/>
            <a:r>
              <a:rPr b="1"/>
              <a:t>多态</a:t>
            </a:r>
            <a:r>
              <a:rPr/>
              <a:t>处理不同事件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面向对象发展简史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年代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里程碑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意义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Simula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引入”类”和”对象”概念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Smalltalk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第一个纯OO语言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C++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将OO带入主流工程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互联网时代OO语言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UML 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统一建模语言标准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1.4 从结构化到面向对象的转变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建模视角对比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409700"/>
                <a:gridCol w="16637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结构化方法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面向对象方法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转变本质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功能需求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数据流图（DFD）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“功能分解”→“用户场景”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“数据实体”→“封装行为的数据”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动态行为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流程图、状态图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顺序图、活动图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“过程流”→“对象间消息传递”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本质区别</a:t>
            </a:r>
          </a:p>
          <a:p>
            <a:pPr lvl="0"/>
            <a:r>
              <a:rPr b="1"/>
              <a:t>结构化</a:t>
            </a:r>
            <a:r>
              <a:rPr/>
              <a:t>：程序 = 数据结构 + 算法</a:t>
            </a:r>
          </a:p>
          <a:p>
            <a:pPr lvl="0"/>
            <a:r>
              <a:rPr b="1"/>
              <a:t>面向对象</a:t>
            </a:r>
            <a:r>
              <a:rPr/>
              <a:t>：程序 = 对象 + 消息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二、面向对象核心概念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为什么需要面向对象？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软件开发的挑战与OO解决方案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挑战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传统方法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OO解决方案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复杂性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拆分功能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封装隐藏细节，降低认知负担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变化性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修改函数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继承和多态支持扩展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协作性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全局变量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对象职责清晰，接口明确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面向对象的核心价值</a:t>
            </a:r>
          </a:p>
          <a:p>
            <a:pPr lvl="0"/>
            <a:r>
              <a:rPr b="1"/>
              <a:t>更高复用</a:t>
            </a:r>
            <a:r>
              <a:rPr/>
              <a:t>：代码复用、设计复用</a:t>
            </a:r>
          </a:p>
          <a:p>
            <a:pPr lvl="0"/>
            <a:r>
              <a:rPr b="1"/>
              <a:t>更低耦合</a:t>
            </a:r>
            <a:r>
              <a:rPr/>
              <a:t>：模块独立，便于维护</a:t>
            </a:r>
          </a:p>
          <a:p>
            <a:pPr lvl="0"/>
            <a:r>
              <a:rPr b="1"/>
              <a:t>更易理解</a:t>
            </a:r>
            <a:r>
              <a:rPr/>
              <a:t>：符合人类认知习惯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 封装（Encapsulation）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将数据和操作捆绑在一起，对外隐藏实现细节。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核心思想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┌────────────────────────────────────┐
│              Book                   │
│  ┌──────────────────────────────┐  │
│  │  私有数据                    │  │
│  │  - isbn: String             │  │
│  │  - title: String            │  │
│  │  - available: bool          │  │
│  └──────────────────────────────┘  │
│  ┌──────────────────────────────┐  │
│  │  公开方法                    │  │
│  │  + borrow()                 │  │
│  │  + return_book()            │  │
│  │  + is_available()           │  │
│  └──────────────────────────────┘  │
└────────────────────────────────────┘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Rust 实现示例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Book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available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私有状态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Book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880000"/>
                </a:solidFill>
                <a:latin typeface="Courier"/>
              </a:rPr>
              <a:t>Ok</a:t>
            </a:r>
            <a:r>
              <a:rPr>
                <a:latin typeface="Courier"/>
              </a:rPr>
              <a:t>(())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880000"/>
                </a:solidFill>
                <a:latin typeface="Courier"/>
              </a:rPr>
              <a:t>Err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"图书已借出"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into())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is_available(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封装的好处</a:t>
            </a:r>
          </a:p>
          <a:p>
            <a:pPr lvl="0" indent="-342900" marL="342900">
              <a:buAutoNum type="arabicPeriod"/>
            </a:pPr>
            <a:r>
              <a:rPr b="1"/>
              <a:t>信息隐藏</a:t>
            </a:r>
            <a:r>
              <a:rPr/>
              <a:t>：外部无法直接修改内部状态</a:t>
            </a:r>
          </a:p>
          <a:p>
            <a:pPr lvl="0" indent="-342900" marL="342900">
              <a:buAutoNum type="arabicPeriod"/>
            </a:pPr>
            <a:r>
              <a:rPr b="1"/>
              <a:t>降低耦合</a:t>
            </a:r>
            <a:r>
              <a:rPr/>
              <a:t>：只依赖公开接口</a:t>
            </a:r>
          </a:p>
          <a:p>
            <a:pPr lvl="0" indent="-342900" marL="342900">
              <a:buAutoNum type="arabicPeriod"/>
            </a:pPr>
            <a:r>
              <a:rPr b="1"/>
              <a:t>易于维护</a:t>
            </a:r>
            <a:r>
              <a:rPr/>
              <a:t>：修改内部不影响外部</a:t>
            </a:r>
          </a:p>
          <a:p>
            <a:pPr lvl="0" indent="-342900" marL="342900">
              <a:buAutoNum type="arabicPeriod"/>
            </a:pPr>
            <a:r>
              <a:rPr b="1"/>
              <a:t>提高复用</a:t>
            </a:r>
            <a:r>
              <a:rPr/>
              <a:t>：清晰的功能边界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2.3 继承（Inheritance）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通过”is-a”关系复用父类代码，建立类型层次。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继承类型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一个父类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 extends User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多个父类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接口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接口定义行为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 User for Student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Rust 中的替代方案</a:t>
            </a:r>
          </a:p>
          <a:p>
            <a:pPr lvl="0" indent="0" marL="0">
              <a:buNone/>
            </a:pPr>
            <a:r>
              <a:rPr/>
              <a:t>Rust 没有传统继承，通过 </a:t>
            </a:r>
            <a:r>
              <a:rPr b="1"/>
              <a:t>trait</a:t>
            </a:r>
            <a:r>
              <a:rPr/>
              <a:t> 实现多态：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定义行为接口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name(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学生实现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student_id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student_id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name(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教师实现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teacher_id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teacher_id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name(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继承 vs 组合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is-a 关系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has-a 关系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静态绑定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动态绑定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紧耦合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松耦合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 多态（Polymorphism）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同一接口，不同实现。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Rust 实现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运行时多态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print_user_info(user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dyn</a:t>
            </a:r>
            <a:r>
              <a:rPr>
                <a:latin typeface="Courier"/>
              </a:rPr>
              <a:t> User)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C7A00"/>
                </a:solidFill>
                <a:latin typeface="Courier"/>
              </a:rPr>
              <a:t>println!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"ID: {}, 姓名: {}"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name())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can_borrow()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C7A00"/>
                </a:solidFill>
                <a:latin typeface="Courier"/>
              </a:rPr>
              <a:t>println!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"可以借书"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无论是Student还是Teacher，都可传入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br/>
            <a:r>
              <a:rPr>
                <a:latin typeface="Courier"/>
              </a:rPr>
              <a:t>print_user_info(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student)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print_user_info(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teacher)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多态的意义</a:t>
            </a:r>
          </a:p>
          <a:p>
            <a:pPr lvl="0"/>
            <a:r>
              <a:rPr b="1"/>
              <a:t>统一接口</a:t>
            </a:r>
            <a:r>
              <a:rPr/>
              <a:t>：调用方无需关心具体类型</a:t>
            </a:r>
          </a:p>
          <a:p>
            <a:pPr lvl="0"/>
            <a:r>
              <a:rPr b="1"/>
              <a:t>可扩展</a:t>
            </a:r>
            <a:r>
              <a:rPr/>
              <a:t>：新增类型无需修改现有代码</a:t>
            </a:r>
          </a:p>
          <a:p>
            <a:pPr lvl="0"/>
            <a:r>
              <a:rPr b="1"/>
              <a:t>灵活性</a:t>
            </a:r>
            <a:r>
              <a:rPr/>
              <a:t>：运行时决定具体实现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三、面向对象分析（OOA）- 用例图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3.1 OOA 核心任务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什么是 OOA？</a:t>
            </a:r>
          </a:p>
          <a:p>
            <a:pPr lvl="0" indent="0" marL="0">
              <a:buNone/>
            </a:pPr>
            <a:r>
              <a:rPr/>
              <a:t>面向对象分析（Object-Oriented Analysis） - 理解问题域，建立概念模型 - 识别对象、属性、行为、关系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OOA 产出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产出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所属阶段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系统功能需求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概念类图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领域概念模型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业务流程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设计类图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详细设计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3.2 用例图基本元素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核心元素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小人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与系统交互的人、硬件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椭圆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系统提供的功能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系统边界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矩形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系统范围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关系类型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参与者与用例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包含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必选功能 &lt;&gt;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扩展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可选功能 &lt;&gt;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用例间泛化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3.3 图书借阅系统用例图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识别参与者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学生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借书、还书、查询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教师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借书、还书、查询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管理图书、管理用户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识别用例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学生/教师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登录、查询图书、借书、还书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登录、管理图书、管理用户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用例图（Mermaid）</a:t>
            </a:r>
          </a:p>
          <a:p>
            <a:pPr lvl="0" indent="0">
              <a:buNone/>
            </a:pPr>
            <a:r>
              <a:rPr>
                <a:latin typeface="Courier"/>
              </a:rPr>
              <a:t>use case
left to right direction
actor Student
actor Teacher
actor Admin
rectangle 图书管理系统 {
    usecase 登录
    usecase 查询图书
    usecase 借书
    usecase 还书
    usecase 管理图书
    Student --&gt; 登录
    Student --&gt; 查询图书
    Student --&gt; 借书
    Student --&gt; 还书
    Teacher --&gt; 登录
    Teacher --&gt; 查询图书
    Teacher --&gt; 借书
    Teacher --&gt; 还书
    Admin --&gt; 登录
    Admin --&gt; 管理图书
    借书 ..&gt; 查询图书 : &lt;&lt;include&gt;&gt;
    还书 ..&gt; 查询图书 : &lt;&lt;include&gt;&gt;
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用例图的作用</a:t>
            </a:r>
          </a:p>
          <a:p>
            <a:pPr lvl="0"/>
            <a:r>
              <a:rPr b="1"/>
              <a:t>捕获功能需求</a:t>
            </a:r>
            <a:r>
              <a:rPr/>
              <a:t>：站在用户视角看系统做什么</a:t>
            </a:r>
          </a:p>
          <a:p>
            <a:pPr lvl="0"/>
            <a:r>
              <a:rPr b="1"/>
              <a:t>界定系统边界</a:t>
            </a:r>
            <a:r>
              <a:rPr/>
              <a:t>：明确哪些功能属于系统</a:t>
            </a:r>
          </a:p>
          <a:p>
            <a:pPr lvl="0"/>
            <a:r>
              <a:rPr b="1"/>
              <a:t>沟通工具</a:t>
            </a:r>
            <a:r>
              <a:rPr/>
              <a:t>：与用户、客户确认需求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 用例图绘制步骤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步骤</a:t>
            </a:r>
          </a:p>
          <a:p>
            <a:pPr lvl="0" indent="-342900" marL="342900">
              <a:buAutoNum type="arabicPeriod"/>
            </a:pPr>
            <a:r>
              <a:rPr b="1"/>
              <a:t>识别参与者</a:t>
            </a:r>
            <a:r>
              <a:rPr/>
              <a:t>：谁使用系统？</a:t>
            </a:r>
          </a:p>
          <a:p>
            <a:pPr lvl="0" indent="-342900" marL="342900">
              <a:buAutoNum type="arabicPeriod"/>
            </a:pPr>
            <a:r>
              <a:rPr b="1"/>
              <a:t>识别用例</a:t>
            </a:r>
            <a:r>
              <a:rPr/>
              <a:t>：系统提供什么功能？</a:t>
            </a:r>
          </a:p>
          <a:p>
            <a:pPr lvl="0" indent="-342900" marL="342900">
              <a:buAutoNum type="arabicPeriod"/>
            </a:pPr>
            <a:r>
              <a:rPr b="1"/>
              <a:t>描述用例</a:t>
            </a:r>
            <a:r>
              <a:rPr/>
              <a:t>：用例的详细步骤</a:t>
            </a:r>
          </a:p>
          <a:p>
            <a:pPr lvl="0" indent="-342900" marL="342900">
              <a:buAutoNum type="arabicPeriod"/>
            </a:pPr>
            <a:r>
              <a:rPr b="1"/>
              <a:t>建立关系</a:t>
            </a:r>
            <a:r>
              <a:rPr/>
              <a:t>：包含、扩展、继承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示例：用例描述</a:t>
            </a:r>
          </a:p>
          <a:p>
            <a:pPr lvl="0" indent="0">
              <a:buNone/>
            </a:pPr>
            <a:r>
              <a:rPr>
                <a:latin typeface="Courier"/>
              </a:rPr>
              <a:t>用例：借书
参与者：学生
前置条件：学生已登录
基本流程：
  1. 学生选择图书
  2. 系统检查库存
  3. 系统创建借阅记录
  4. 系统更新图书状态
后置条件：借阅记录已创建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课间休息（5分钟）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四、面向对象分析（OOA）- 概念类图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4.1 概念类图 vs 设计类图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区别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概念类图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设计类图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抽象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业务概念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实现细节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内容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领域模型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具体类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业务语言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编程语言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关系</a:t>
            </a:r>
          </a:p>
          <a:p>
            <a:pPr lvl="0" indent="0">
              <a:buNone/>
            </a:pPr>
            <a:r>
              <a:rPr>
                <a:latin typeface="Courier"/>
              </a:rPr>
              <a:t>OOA → OOD
概念类图 → 设计类图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4.2 对象发现方法：名词短语分析法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步骤</a:t>
            </a:r>
          </a:p>
          <a:p>
            <a:pPr lvl="0" indent="-342900" marL="342900">
              <a:buAutoNum type="arabicPeriod"/>
            </a:pPr>
            <a:r>
              <a:rPr b="1"/>
              <a:t>提取名词</a:t>
            </a:r>
            <a:r>
              <a:rPr/>
              <a:t>：从需求描述中找出所有名词</a:t>
            </a:r>
          </a:p>
          <a:p>
            <a:pPr lvl="0" indent="-342900" marL="342900">
              <a:buAutoNum type="arabicPeriod"/>
            </a:pPr>
            <a:r>
              <a:rPr b="1"/>
              <a:t>筛选对象</a:t>
            </a:r>
            <a:r>
              <a:rPr/>
              <a:t>：保留核心业务实体</a:t>
            </a:r>
          </a:p>
          <a:p>
            <a:pPr lvl="0" indent="-342900" marL="342900">
              <a:buAutoNum type="arabicPeriod"/>
            </a:pPr>
            <a:r>
              <a:rPr b="1"/>
              <a:t>确定属性</a:t>
            </a:r>
            <a:r>
              <a:rPr/>
              <a:t>：明确对象的特征</a:t>
            </a:r>
          </a:p>
          <a:p>
            <a:pPr lvl="0" indent="-342900" marL="342900">
              <a:buAutoNum type="arabicPeriod"/>
            </a:pPr>
            <a:r>
              <a:rPr b="1"/>
              <a:t>识别关系</a:t>
            </a:r>
            <a:r>
              <a:rPr/>
              <a:t>：建立对象间联系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示例：图书借阅系统</a:t>
            </a:r>
          </a:p>
          <a:p>
            <a:pPr lvl="0" indent="0" marL="1270000">
              <a:buNone/>
            </a:pPr>
            <a:r>
              <a:rPr sz="2000"/>
              <a:t>学生和教师可以借阅图书。每本图书有ISBN、书名、作者、出版社。借阅时需登记借阅人、借阅日期、应还日期。图书管理员负责管理图书和借阅记录。系统需要记录借阅历史，并支持逾期罚款计算。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提取结果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候选对象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是否保留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理由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学生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核心角色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教师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核心角色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图书管理员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核心角色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核心实体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ISBN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图书的属性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书名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图书的属性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核心实体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逾期罚款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业务规则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4.3 确定对象关系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关系类型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使用关系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用户 → 借阅记录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整体-部分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班级 → 学生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强整体-部分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订单 → 订单项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泛化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一般-特殊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用户 → 学生、教师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图书借阅系统关系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被借阅于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图书管理员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概念类图（Mermaid）</a:t>
            </a:r>
          </a:p>
          <a:p>
            <a:pPr lvl="0" indent="0">
              <a:buNone/>
            </a:pPr>
            <a:r>
              <a:rPr>
                <a:latin typeface="Courier"/>
              </a:rPr>
              <a:t>classDiagram
    class User {
        +id: String
        +name: String
    }
    class Student
    class Teacher
    class Book {
        +isbn: String
        +title: String
        +available: bool
    }
    class BorrowRecord {
        +borrowDate: Date
        +dueDate: Date
    }
    User &lt;|-- Student
    User &lt;|-- Teacher
    User "1" --&gt; "*" BorrowRecord
    Book "1" --&gt; "*" BorrowRecord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五、从分析到设计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5.1 OOA vs OOD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区别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目标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理解问题域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解决问题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做什么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怎么做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输出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概念模型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设计方案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抽象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业务概念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实现细节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映射关系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┌─────────────────────────────────────────┐
│              OOA → OOD                   │
├─────────────────────────────────────────┤
│ 用例图 → 系统设计                         │
│ 概念类 "用户" → 设计类 User (trait)     │
│ 概念类 "图书" → 设计类 Book (struct)    │
│ 关系实现 → 成员变量、集合               │
└─────────────────────────────────────────┘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 设计考虑因素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实现环境</a:t>
            </a:r>
          </a:p>
          <a:p>
            <a:pPr lvl="0"/>
            <a:r>
              <a:rPr/>
              <a:t>编程语言特性</a:t>
            </a:r>
          </a:p>
          <a:p>
            <a:pPr lvl="0"/>
            <a:r>
              <a:rPr/>
              <a:t>框架约束</a:t>
            </a:r>
          </a:p>
          <a:p>
            <a:pPr lvl="0"/>
            <a:r>
              <a:rPr/>
              <a:t>性能要求</a:t>
            </a:r>
          </a:p>
          <a:p>
            <a:pPr lvl="0"/>
            <a:r>
              <a:rPr/>
              <a:t>存储方案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质量属性</a:t>
            </a:r>
          </a:p>
          <a:p>
            <a:pPr lvl="0"/>
            <a:r>
              <a:rPr/>
              <a:t>可维护性</a:t>
            </a:r>
          </a:p>
          <a:p>
            <a:pPr lvl="0"/>
            <a:r>
              <a:rPr/>
              <a:t>可扩展性</a:t>
            </a:r>
          </a:p>
          <a:p>
            <a:pPr lvl="0"/>
            <a:r>
              <a:rPr/>
              <a:t>可测试性</a:t>
            </a:r>
          </a:p>
          <a:p>
            <a:pPr lvl="0"/>
            <a:r>
              <a:rPr/>
              <a:t>性能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六、面向对象设计（OOD）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6.1 类的设计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类的组成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┌─────────────────────────────────────┐
│           类名                       │
├─────────────────────────────────────┤
│ - 属性1: 类型     （私有）          │
│ - 属性2: 类型     （私有）           │
├─────────────────────────────────────┤
│ + 方法1(参数): 返回类型  （公开）   │
│ + 方法2(参数): 返回类型              │
└─────────────────────────────────────┘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Rust 实现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user_type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borrow_records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Vec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BorrowRecord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borrow_records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len()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max_books()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Book)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借书逻辑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什么是接口？</a:t>
            </a:r>
          </a:p>
          <a:p>
            <a:pPr lvl="0"/>
            <a:r>
              <a:rPr/>
              <a:t>行为的抽象定义</a:t>
            </a:r>
          </a:p>
          <a:p>
            <a:pPr lvl="0"/>
            <a:r>
              <a:rPr/>
              <a:t>实现与使用分离</a:t>
            </a:r>
          </a:p>
          <a:p>
            <a:pPr lvl="0"/>
            <a:r>
              <a:rPr/>
              <a:t>依赖倒置的基础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Rust 接口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find(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save(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entity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InMemoryUserRepo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InMemoryUserRepo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七、SOLID 设计原则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7.1 S - 单一职责（SRP）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一个类只应有一个引起它变化的原因。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违反：同时处理业务和持久化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save_to_db(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正确：分离职责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      </a:t>
            </a:r>
            <a:r>
              <a:rPr i="1">
                <a:solidFill>
                  <a:srgbClr val="60A0B0"/>
                </a:solidFill>
                <a:latin typeface="Courier"/>
              </a:rPr>
              <a:t>// 业务逻辑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UserRepository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持久化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O - 开闭原则（OCP）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对扩展开放，对修改关闭。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days_overdue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DefaultFineCalculator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HolidayFineCalculator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FineCalculator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DefaultFineCalculator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days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 L - 里氏替换（LSP）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子类必须能够替换父类。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Student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Teacher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7.4 I - 接口隔离（ISP）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接口要小而专，避免胖接口。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胖接口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LibraryService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add_book(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calculate_fine(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record_id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分离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BookManager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add_book(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BorrowService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7.5 D - 依赖倒置（DIP）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依赖抽象，不依赖具体实现。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BorrowService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UserRepository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BookRepository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user_repo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book_repo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课堂小结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核心要点回顾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方法学演进</a:t>
            </a:r>
            <a:r>
              <a:rPr/>
              <a:t>：从结构化到面向对象</a:t>
            </a:r>
          </a:p>
          <a:p>
            <a:pPr lvl="0" indent="-342900" marL="342900">
              <a:buAutoNum type="arabicPeriod"/>
            </a:pPr>
            <a:r>
              <a:rPr b="1"/>
              <a:t>OO三要素</a:t>
            </a:r>
            <a:r>
              <a:rPr/>
              <a:t>：封装、继承、多态</a:t>
            </a:r>
          </a:p>
          <a:p>
            <a:pPr lvl="0" indent="-342900" marL="342900">
              <a:buAutoNum type="arabicPeriod"/>
            </a:pPr>
            <a:r>
              <a:rPr b="1"/>
              <a:t>OOA</a:t>
            </a:r>
            <a:r>
              <a:rPr/>
              <a:t>：用例图捕获需求 → 概念类图建模</a:t>
            </a:r>
          </a:p>
          <a:p>
            <a:pPr lvl="0" indent="-342900" marL="342900">
              <a:buAutoNum type="arabicPeriod"/>
            </a:pPr>
            <a:r>
              <a:rPr b="1"/>
              <a:t>OOD</a:t>
            </a:r>
            <a:r>
              <a:rPr/>
              <a:t>：设计类图 → 接口设计</a:t>
            </a:r>
          </a:p>
          <a:p>
            <a:pPr lvl="0" indent="-342900" marL="342900">
              <a:buAutoNum type="arabicPeriod"/>
            </a:pPr>
            <a:r>
              <a:rPr b="1"/>
              <a:t>SOLID原则</a:t>
            </a:r>
            <a:r>
              <a:rPr/>
              <a:t>：指导高质量设计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下节预告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第四讲</a:t>
            </a:r>
            <a:r>
              <a:rPr/>
              <a:t>：UML规范与图例</a:t>
            </a:r>
          </a:p>
          <a:p>
            <a:pPr lvl="1"/>
            <a:r>
              <a:rPr/>
              <a:t>顺序图、活动图、状态图</a:t>
            </a:r>
          </a:p>
          <a:p>
            <a:pPr lvl="1"/>
            <a:r>
              <a:rPr/>
              <a:t>组件图、部署图</a:t>
            </a:r>
          </a:p>
          <a:p>
            <a:pPr lvl="1"/>
            <a:r>
              <a:rPr/>
              <a:t>继续以图书借阅系统为例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2026-03-15T16:47:29Z</dcterms:created>
  <dcterms:modified xsi:type="dcterms:W3CDTF">2026-03-15T16:47:29Z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theme">
    <vt:lpwstr>gaia</vt:lpwstr>
  </property>
</Properties>
</file>
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第三讲：面向对象分析、设计与实现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从结构化到面向对象的方法演进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以高校图书管理系统为例</a:t>
            </a:r>
          </a:p>
          <a:p>
            <a:pPr lvl="0" indent="0" marL="0">
              <a:buNone/>
            </a:pPr>
            <a:r>
              <a:rPr b="1"/>
              <a:t>80分钟 | 两节课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第一部分：OO的历史与演进（What &amp; Why）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本部分回答：OO从何而来？为什么需要OO？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第1页：软件危机与结构化方法（1960s-1980s）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历史背景</a:t>
            </a:r>
          </a:p>
          <a:p>
            <a:pPr lvl="0"/>
            <a:r>
              <a:rPr b="1"/>
              <a:t>1960年代-1970年代</a:t>
            </a:r>
            <a:r>
              <a:rPr/>
              <a:t>：软件规模爆炸，项目频繁延期</a:t>
            </a:r>
          </a:p>
          <a:p>
            <a:pPr lvl="0"/>
            <a:r>
              <a:rPr b="1"/>
              <a:t>典型问题</a:t>
            </a:r>
            <a:r>
              <a:rPr/>
              <a:t>：</a:t>
            </a:r>
          </a:p>
          <a:p>
            <a:pPr lvl="1"/>
            <a:r>
              <a:rPr/>
              <a:t>需求变更导致大规模返工</a:t>
            </a:r>
          </a:p>
          <a:p>
            <a:pPr lvl="1"/>
            <a:r>
              <a:rPr/>
              <a:t>代码难以维护，“修复一个bug引入三个bug”</a:t>
            </a:r>
          </a:p>
          <a:p>
            <a:pPr lvl="1"/>
            <a:r>
              <a:rPr/>
              <a:t>团队沟通困难，文档与代码脱节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结构化方法的诞生</a:t>
            </a:r>
          </a:p>
          <a:p>
            <a:pPr lvl="0"/>
            <a:r>
              <a:rPr b="1"/>
              <a:t>核心思想</a:t>
            </a:r>
            <a:r>
              <a:rPr/>
              <a:t>：自顶向下、逐步求精、功能分解</a:t>
            </a:r>
          </a:p>
          <a:p>
            <a:pPr lvl="0"/>
            <a:r>
              <a:rPr b="1"/>
              <a:t>三大建模工具</a:t>
            </a:r>
            <a:r>
              <a:rPr/>
              <a:t>：</a:t>
            </a:r>
          </a:p>
          <a:p>
            <a:pPr lvl="1"/>
            <a:r>
              <a:rPr/>
              <a:t>数据流图（DFD）：描述功能处理过程</a:t>
            </a:r>
          </a:p>
          <a:p>
            <a:pPr lvl="1"/>
            <a:r>
              <a:rPr/>
              <a:t>实体-关系图（ERD）：描述数据结构</a:t>
            </a:r>
          </a:p>
          <a:p>
            <a:pPr lvl="1"/>
            <a:r>
              <a:rPr/>
              <a:t>流程图/状态图：描述行为逻辑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第2页：结构化方法的核心缺陷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数据与操作分离</a:t>
            </a:r>
          </a:p>
          <a:p>
            <a:pPr lvl="0" indent="0">
              <a:buNone/>
            </a:pPr>
            <a:r>
              <a:rPr>
                <a:latin typeface="Courier"/>
              </a:rPr>
              <a:t>[学生数据] ←→ [借书处理程序] ←→ [图书数据]
↑              ↓              ↑
数据库        业务逻辑        数据库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痛点示例：图书管理系统需求变更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需求变更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结构化方法的影响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增加”教师借书期限不同”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修改所有涉及期限计算的处理程序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增加”预约图书功能”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修改学生、图书、借阅三个数据结构和处理程序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增加”电子书借阅”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新增数据文件，修改大部分现有程序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本质问题</a:t>
            </a:r>
            <a:r>
              <a:rPr/>
              <a:t>：数据和操作分离，导致</a:t>
            </a:r>
            <a:r>
              <a:rPr b="1"/>
              <a:t>变化传播范围广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第3页：面向对象方法的诞生（1980s-1990s）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图形界面革命的推动</a:t>
            </a:r>
          </a:p>
          <a:p>
            <a:pPr lvl="0"/>
            <a:r>
              <a:rPr b="1"/>
              <a:t>1980年代</a:t>
            </a:r>
            <a:r>
              <a:rPr/>
              <a:t>：Macintosh、Windows等图形操作系统普及</a:t>
            </a:r>
          </a:p>
          <a:p>
            <a:pPr lvl="0"/>
            <a:r>
              <a:rPr b="1"/>
              <a:t>界面元素天然具有对象特征</a:t>
            </a:r>
            <a:r>
              <a:rPr/>
              <a:t>：</a:t>
            </a:r>
          </a:p>
          <a:p>
            <a:pPr lvl="1"/>
            <a:r>
              <a:rPr/>
              <a:t>窗口：有状态（大小、位置）和行为（打开、关闭）</a:t>
            </a:r>
          </a:p>
          <a:p>
            <a:pPr lvl="1"/>
            <a:r>
              <a:rPr/>
              <a:t>按钮：有状态（启用/禁用）和行为（点击响应）</a:t>
            </a:r>
          </a:p>
          <a:p>
            <a:pPr lvl="1"/>
            <a:r>
              <a:rPr/>
              <a:t>菜单、对话框、图标…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面向对象的核心洞察</a:t>
            </a:r>
          </a:p>
          <a:p>
            <a:pPr lvl="0" indent="0" marL="1270000">
              <a:buNone/>
            </a:pPr>
            <a:r>
              <a:rPr sz="2000" b="1"/>
              <a:t>“软件系统应该像现实世界一样，由自治的对象组成，对象通过消息协作完成任务”“</a:t>
            </a:r>
          </a:p>
          <a:p>
            <a:pPr lvl="0"/>
            <a:r>
              <a:rPr b="1"/>
              <a:t>Simula（1967）</a:t>
            </a:r>
            <a:r>
              <a:rPr/>
              <a:t>：首次引入”类”和”对象”概念</a:t>
            </a:r>
          </a:p>
          <a:p>
            <a:pPr lvl="0"/>
            <a:r>
              <a:rPr b="1"/>
              <a:t>Smalltalk（1970s）</a:t>
            </a:r>
            <a:r>
              <a:rPr/>
              <a:t>：第一个纯面向对象语言</a:t>
            </a:r>
          </a:p>
          <a:p>
            <a:pPr lvl="0"/>
            <a:r>
              <a:rPr b="1"/>
              <a:t>C++（1980s）</a:t>
            </a:r>
            <a:r>
              <a:rPr/>
              <a:t>：将OO带入主流工程实践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第4页：方法演进对比（What）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结构化方法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面向对象方法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基本单位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功能模块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对象（数据+操作封装）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系统视角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功能分解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责任分配与协作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应对变化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修改连锁反应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局部修改，不影响其他对象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复用方式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代码复制或函数库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继承、组合、多态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建模工具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DFD、ERD、流程图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UML用例图、类图、顺序图…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图书管理系统示例</a:t>
            </a:r>
          </a:p>
          <a:p>
            <a:pPr lvl="0"/>
            <a:r>
              <a:rPr b="1"/>
              <a:t>结构化</a:t>
            </a:r>
            <a:r>
              <a:rPr/>
              <a:t>：先设计”借书处理”功能，再设计所需的数据结构</a:t>
            </a:r>
          </a:p>
          <a:p>
            <a:pPr lvl="0"/>
            <a:r>
              <a:rPr b="1"/>
              <a:t>面向对象</a:t>
            </a:r>
            <a:r>
              <a:rPr/>
              <a:t>：先识别”学生”、“图书”、“借阅记录”等对象，再设计它们的协作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第5页：OO核心思想：责任驱动（What）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什么是对象？</a:t>
            </a:r>
          </a:p>
          <a:p>
            <a:pPr lvl="0" indent="0" marL="1270000">
              <a:buNone/>
            </a:pPr>
            <a:r>
              <a:rPr sz="2000" b="1"/>
              <a:t>对象 = 责任（Responsibility）的封装体</a:t>
            </a:r>
          </a:p>
          <a:p>
            <a:pPr lvl="0"/>
            <a:r>
              <a:rPr b="1"/>
              <a:t>封装（Encapsulation）</a:t>
            </a:r>
            <a:r>
              <a:rPr/>
              <a:t>：隐藏内部细节，只暴露必要接口</a:t>
            </a:r>
          </a:p>
          <a:p>
            <a:pPr lvl="1"/>
            <a:r>
              <a:rPr/>
              <a:t>图书对象知道如何检查是否可借，外界无需知道具体规则</a:t>
            </a:r>
          </a:p>
          <a:p>
            <a:pPr lvl="0"/>
            <a:r>
              <a:rPr b="1"/>
              <a:t>继承（Inheritance）</a:t>
            </a:r>
            <a:r>
              <a:rPr/>
              <a:t>：复用和扩展责任</a:t>
            </a:r>
          </a:p>
          <a:p>
            <a:pPr lvl="1"/>
            <a:r>
              <a:rPr/>
              <a:t>“教师”和”学生”复用”用户”的基础责任，各自扩展特殊责任</a:t>
            </a:r>
          </a:p>
          <a:p>
            <a:pPr lvl="0"/>
            <a:r>
              <a:rPr b="1"/>
              <a:t>多态（Polymorphism）</a:t>
            </a:r>
            <a:r>
              <a:rPr/>
              <a:t>：替换责任执行者</a:t>
            </a:r>
          </a:p>
          <a:p>
            <a:pPr lvl="1"/>
            <a:r>
              <a:rPr/>
              <a:t>无论是教师还是学生，都通过统一的”借书”接口处理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第6页：Why OO？应对软件复杂性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复杂性来源与OO解决方案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复杂性来源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OO解决方案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图书管理系统示例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认知负担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封装隐藏细节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学生只需知道”借书”接口，无需了解库存检查逻辑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需求变化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继承和多态支持扩展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新增”访客”用户类型，继承基础用户类即可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团队协作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对象职责清晰，接口明确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前端团队与后端团队通过”借书接口”契约协作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系统演化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对象自治，修改局部化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修改逾期罚款规则，只影响”借阅记录”对象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第7页：OO vs 结构化：修改成本对比（Why）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场景：图书管理系统增加”电子书借阅”</a:t>
            </a:r>
          </a:p>
          <a:p>
            <a:pPr lvl="0" indent="0" marL="0">
              <a:buNone/>
            </a:pPr>
            <a:r>
              <a:rPr b="1"/>
              <a:t>结构化方法修改范围</a:t>
            </a:r>
            <a:r>
              <a:rPr/>
              <a:t>： - 修改学生数据结构（增加电子书权限字段） - 修改图书数据结构（增加介质类型字段） - 修改借书处理程序（增加电子书特殊逻辑） - 修改还书处理程序（增加电子书自动归还逻辑） - 修改查询程序、统计程序… - </a:t>
            </a:r>
            <a:r>
              <a:rPr b="1"/>
              <a:t>影响范围：整个系统</a:t>
            </a:r>
          </a:p>
          <a:p>
            <a:pPr lvl="0" indent="0" marL="0">
              <a:buNone/>
            </a:pPr>
            <a:r>
              <a:rPr b="1"/>
              <a:t>面向对象方法修改范围</a:t>
            </a:r>
            <a:r>
              <a:rPr/>
              <a:t>： - 新增”EBook”类（继承Book） - 修改”借书”方法（增加电子书特殊处理） - </a:t>
            </a:r>
            <a:r>
              <a:rPr b="1"/>
              <a:t>影响范围：两个类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第8页：从现实到软件：OO建模的本质（What）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图书管理系统的现实世界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现实世界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软件系统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 ──借书──→ 图书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Student对象 ──消息──→ Book对象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└── 产生 ──→ 借阅记录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└── 创建 ──→ BorrowRecord对象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OOA/OOD/OOP的关系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产出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OOA</a:t>
                      </a:r>
                      <a:r>
                        <a:rPr/>
                        <a:t>（面向对象分析）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理解问题，建立概念模型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用例图、概念类图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OOD</a:t>
                      </a:r>
                      <a:r>
                        <a:rPr/>
                        <a:t>（面向对象设计）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设计解决方案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设计类图、顺序图、详细方法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</a:t>
                      </a:r>
                      <a:r>
                        <a:rPr/>
                        <a:t>（面向对象编程）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编码实现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可执行代码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第9页：本讲目标与结构（How）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学习目标</a:t>
            </a:r>
          </a:p>
          <a:p>
            <a:pPr lvl="0" indent="-342900" marL="342900">
              <a:buAutoNum type="arabicPeriod"/>
            </a:pPr>
            <a:r>
              <a:rPr b="1"/>
              <a:t>理解</a:t>
            </a:r>
            <a:r>
              <a:rPr/>
              <a:t> OO思想的核心（责任、封装、协作）</a:t>
            </a:r>
          </a:p>
          <a:p>
            <a:pPr lvl="0" indent="-342900" marL="342900">
              <a:buAutoNum type="arabicPeriod"/>
            </a:pPr>
            <a:r>
              <a:rPr b="1"/>
              <a:t>掌握</a:t>
            </a:r>
            <a:r>
              <a:rPr/>
              <a:t> OOA过程（从需求发现对象）</a:t>
            </a:r>
          </a:p>
          <a:p>
            <a:pPr lvl="0" indent="-342900" marL="342900">
              <a:buAutoNum type="arabicPeriod"/>
            </a:pPr>
            <a:r>
              <a:rPr b="1"/>
              <a:t>掌握</a:t>
            </a:r>
            <a:r>
              <a:rPr/>
              <a:t> OOD过程（设计类，应用SOLID原则）</a:t>
            </a:r>
          </a:p>
          <a:p>
            <a:pPr lvl="0" indent="-342900" marL="342900">
              <a:buAutoNum type="arabicPeriod"/>
            </a:pPr>
            <a:r>
              <a:rPr b="1"/>
              <a:t>能够</a:t>
            </a:r>
            <a:r>
              <a:rPr/>
              <a:t> 完成图书管理系统的OOA/OOD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课程结构</a:t>
            </a:r>
          </a:p>
          <a:p>
            <a:pPr lvl="0" indent="0" marL="0">
              <a:buNone/>
            </a:pPr>
            <a:r>
              <a:rPr b="1"/>
              <a:t>第一节课（40分钟）：OOA分析过程</a:t>
            </a:r>
            <a:r>
              <a:rPr/>
              <a:t> - 需求获取与用例分析 - 名词分析法发现对象 - 建立概念类图</a:t>
            </a:r>
          </a:p>
          <a:p>
            <a:pPr lvl="0" indent="0" marL="0">
              <a:buNone/>
            </a:pPr>
            <a:r>
              <a:rPr b="1"/>
              <a:t>第二节课（40分钟）：OOD设计过程</a:t>
            </a:r>
            <a:r>
              <a:rPr/>
              <a:t> - 从分析到设计的过渡 - 详细类设计（属性、方法、关系） - SOLID设计原则应用 - 设计优化与评审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课间休息（5分钟）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第二部分：面向对象分析（OOA）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本部分回答：如何从需求中发现对象？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第10页：OOA的核心任务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什么是OOA？</a:t>
            </a:r>
          </a:p>
          <a:p>
            <a:pPr lvl="0" indent="0" marL="1270000">
              <a:buNone/>
            </a:pPr>
            <a:r>
              <a:rPr sz="2000" b="1"/>
              <a:t>面向对象分析（OOA）= 理解问题域，建立概念模型的过程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核心任务</a:t>
            </a:r>
          </a:p>
          <a:p>
            <a:pPr lvl="0" indent="-342900" marL="342900">
              <a:buAutoNum type="arabicPeriod"/>
            </a:pPr>
            <a:r>
              <a:rPr b="1"/>
              <a:t>理解需求</a:t>
            </a:r>
            <a:r>
              <a:rPr/>
              <a:t>：与领域专家沟通，收集功能需求</a:t>
            </a:r>
          </a:p>
          <a:p>
            <a:pPr lvl="0" indent="-342900" marL="342900">
              <a:buAutoNum type="arabicPeriod"/>
            </a:pPr>
            <a:r>
              <a:rPr b="1"/>
              <a:t>识别对象</a:t>
            </a:r>
            <a:r>
              <a:rPr/>
              <a:t>：从需求描述中发现业务实体</a:t>
            </a:r>
          </a:p>
          <a:p>
            <a:pPr lvl="0" indent="-342900" marL="342900">
              <a:buAutoNum type="arabicPeriod"/>
            </a:pPr>
            <a:r>
              <a:rPr b="1"/>
              <a:t>确定属性</a:t>
            </a:r>
            <a:r>
              <a:rPr/>
              <a:t>：对象的特征信息</a:t>
            </a:r>
          </a:p>
          <a:p>
            <a:pPr lvl="0" indent="-342900" marL="342900">
              <a:buAutoNum type="arabicPeriod"/>
            </a:pPr>
            <a:r>
              <a:rPr b="1"/>
              <a:t>识别关系</a:t>
            </a:r>
            <a:r>
              <a:rPr/>
              <a:t>：对象之间的关联、继承、依赖</a:t>
            </a:r>
          </a:p>
          <a:p>
            <a:pPr lvl="0" indent="-342900" marL="342900">
              <a:buAutoNum type="arabicPeriod"/>
            </a:pPr>
            <a:r>
              <a:rPr b="1"/>
              <a:t>产出模型</a:t>
            </a:r>
            <a:r>
              <a:rPr/>
              <a:t>：用例图、概念类图，活动图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图书管理系统OOA产出示例</a:t>
            </a:r>
          </a:p>
          <a:p>
            <a:pPr lvl="0"/>
            <a:r>
              <a:rPr/>
              <a:t>用例图：学生借书、还书、查询；管理员管理图书…</a:t>
            </a:r>
          </a:p>
          <a:p>
            <a:pPr lvl="0"/>
            <a:r>
              <a:rPr/>
              <a:t>概念类图：学生、教师、图书、借阅记录、逾期罚款…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第11页：需求获取：用例分析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图书管理系统需求（简化版）</a:t>
            </a:r>
          </a:p>
          <a:p>
            <a:pPr lvl="0" indent="0" marL="1270000">
              <a:buNone/>
            </a:pPr>
            <a:r>
              <a:rPr sz="2000" b="1"/>
              <a:t>用户故事</a:t>
            </a:r>
            <a:r>
              <a:rPr sz="2000"/>
              <a:t>： 1. 学生和教师可以借阅图书，每本书最多借30天 2. 逾期每天罚款0.5元，最高不超过书价 3. 管理员可以添加、删除、修改图书信息 4. 用户可以查询图书信息和借阅历史 5. 系统需要记录所有借阅历史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用例识别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参与者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用例（功能）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借书、还书、查询图书、查看借阅历史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教师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借书、还书、查询图书、查看借阅历史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图书管理（增删改）、查看统计报表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系统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计算逾期罚款、发送催还通知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第12页：名词分析法：发现对象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方法步骤</a:t>
            </a:r>
          </a:p>
          <a:p>
            <a:pPr lvl="0" indent="-342900" marL="342900">
              <a:buAutoNum type="arabicPeriod"/>
            </a:pPr>
            <a:r>
              <a:rPr b="1"/>
              <a:t>划线</a:t>
            </a:r>
            <a:r>
              <a:rPr/>
              <a:t>：从需求描述中划出所有名词</a:t>
            </a:r>
          </a:p>
          <a:p>
            <a:pPr lvl="0" indent="-342900" marL="342900">
              <a:buAutoNum type="arabicPeriod"/>
            </a:pPr>
            <a:r>
              <a:rPr b="1"/>
              <a:t>筛选</a:t>
            </a:r>
            <a:r>
              <a:rPr/>
              <a:t>：排除系统、界面、外部系统，保留业务实体</a:t>
            </a:r>
          </a:p>
          <a:p>
            <a:pPr lvl="0" indent="-342900" marL="342900">
              <a:buAutoNum type="arabicPeriod"/>
            </a:pPr>
            <a:r>
              <a:rPr b="1"/>
              <a:t>分类</a:t>
            </a:r>
            <a:r>
              <a:rPr/>
              <a:t>：区分对象、属性、值对象</a:t>
            </a:r>
          </a:p>
          <a:p>
            <a:pPr lvl="0" indent="-342900" marL="342900">
              <a:buAutoNum type="arabicPeriod"/>
            </a:pPr>
            <a:r>
              <a:rPr b="1"/>
              <a:t>验证</a:t>
            </a:r>
            <a:r>
              <a:rPr/>
              <a:t>：检查对象是否有明确的责任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图书管理系统名词分析</a:t>
            </a:r>
          </a:p>
          <a:p>
            <a:pPr lvl="0" indent="0" marL="1270000">
              <a:buNone/>
            </a:pPr>
            <a:r>
              <a:rPr sz="2000" b="1"/>
              <a:t>“学生和教师可以借阅图书。每本图书有ISBN、书名、作者、出版社。借阅时需登记借阅人、借阅日期、应还日期。图书管理员负责管理图书和借阅记录。系统需要记录借阅历史，并支持逾期罚款计算。”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第13页：候选对象筛选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第一轮筛选：排除非业务实体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候选名词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理由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业务实体，有明确责任（借书、还书）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教师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业务实体，与学生类似但权限不同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核心业务实体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ISBN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排除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图书的属性，不是独立对象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书名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排除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图书的属性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排除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图书的属性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业务实体，需要记录状态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核心业务实体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保留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业务实体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逾期罚款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值对象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无独立身份，依附于借阅记录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第14页：对象分类与泛化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识别泛化关系（继承）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用户（User）
       /          \
 学生（Student）  教师（Teacher）
 - 学号          - 教师工号
 - 年级          - 院系
 - 最大借书数=5   - 最大借书数=10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图书管理系统核心对象（第一版）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核心责任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User（用户）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抽象类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登录、查看个人信息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Student（学生）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借书、还书、查询（限制5本）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Teacher（教师）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借书、还书、查询（限制10本）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Book（图书）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记录状态（可借/已借出）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BorrowRecord（借阅记录）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记录借阅信息、计算逾期罚款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Librarian（图书管理员）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管理图书信息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第15页：识别对象关系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关系类型说明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图书管理系统示例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对象之间的结构连接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用户创建借阅记录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整体-部分，可独立存在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图书管理系统包含用户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整体-部分，生命周期依赖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借阅记录包含逾期罚款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借阅记录依赖图书获取信息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is-a关系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学生是用户，教师是用户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第16页：图书管理系统关系图（概念版）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┌─────────────────────────────────────────┐
│           图书管理系统                   │
│  ┌─────────┐    创建    ┌───────────┐  │
│  │  用户   │◄───────────│ 借阅记录  │  │
│  │ (抽象)  │   1    *   │           │  │
│  └────┬────┘            └─────┬─────┘  │
│       │ 继承                   │ 涉及   │
│   ┌───┴───┐                   │        │
│   ▼       ▼                   ▼        │
│ ┌─────┐ ┌─────┐            ┌─────┐    │
│ │学生 │ │教师 │            │ 图书 │    │
│ └─────┘ └─────┘            └─────┘    │
│                               ▲        │
│                               │ 管理    │
│                          ┌────┴────┐   │
│                          │ 管理员  │   │
│                          └─────────┘   │
└─────────────────────────────────────────┘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第17页：确定对象属性（初步）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属性识别原则</a:t>
            </a:r>
          </a:p>
          <a:p>
            <a:pPr lvl="0"/>
            <a:r>
              <a:rPr b="1"/>
              <a:t>特征信息</a:t>
            </a:r>
            <a:r>
              <a:rPr/>
              <a:t>：描述对象的静态特征</a:t>
            </a:r>
          </a:p>
          <a:p>
            <a:pPr lvl="0"/>
            <a:r>
              <a:rPr b="1"/>
              <a:t>状态信息</a:t>
            </a:r>
            <a:r>
              <a:rPr/>
              <a:t>：描述对象的动态状态（会变化）</a:t>
            </a:r>
          </a:p>
          <a:p>
            <a:pPr lvl="0"/>
            <a:r>
              <a:rPr b="1"/>
              <a:t>避免冗余</a:t>
            </a:r>
            <a:r>
              <a:rPr/>
              <a:t>：可通过计算获得的不要存储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图书管理系统对象属性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属性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userId, name, password, email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基础信息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studentNo, grade, 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特有信息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Teacher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teacherNo, department, 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特有信息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isbn, title, author, status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status表示可借/已借出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BorrowRecord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recordId, borrowDate, dueDate, returnDate, status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status表示借阅中/已归还/逾期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第18页：课堂练习：完善对象模型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任务</a:t>
            </a:r>
          </a:p>
          <a:p>
            <a:pPr lvl="0" indent="0" marL="0">
              <a:buNone/>
            </a:pPr>
            <a:r>
              <a:rPr/>
              <a:t>基于以下补充需求，完善图书管理系统的OOA模型：</a:t>
            </a:r>
          </a:p>
          <a:p>
            <a:pPr lvl="0" indent="0" marL="1270000">
              <a:buNone/>
            </a:pPr>
            <a:r>
              <a:rPr sz="2000" b="1"/>
              <a:t>补充需求</a:t>
            </a:r>
            <a:r>
              <a:rPr sz="2000"/>
              <a:t>： 1. 图书可以预约，当图书归还时通知预约者 2. 图书馆有多个分馆，图书属于特定分馆 3. 学生可以续借一次，教师可以续借两次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思考要点</a:t>
            </a:r>
          </a:p>
          <a:p>
            <a:pPr lvl="0" indent="-342900" marL="342900">
              <a:buAutoNum type="arabicPeriod"/>
            </a:pPr>
            <a:r>
              <a:rPr/>
              <a:t>需要增加哪些新对象？</a:t>
            </a:r>
          </a:p>
          <a:p>
            <a:pPr lvl="0" indent="-342900" marL="342900">
              <a:buAutoNum type="arabicPeriod"/>
            </a:pPr>
            <a:r>
              <a:rPr/>
              <a:t>预约与借阅记录是什么关系？</a:t>
            </a:r>
          </a:p>
          <a:p>
            <a:pPr lvl="0" indent="-342900" marL="342900">
              <a:buAutoNum type="arabicPeriod"/>
            </a:pPr>
            <a:r>
              <a:rPr/>
              <a:t>分馆与图书是什么关系？</a:t>
            </a:r>
          </a:p>
          <a:p>
            <a:pPr lvl="0" indent="-342900" marL="342900">
              <a:buAutoNum type="arabicPeriod"/>
            </a:pPr>
            <a:r>
              <a:rPr/>
              <a:t>续借功能如何体现？</a:t>
            </a:r>
          </a:p>
          <a:p>
            <a:pPr lvl="0" indent="0" marL="0">
              <a:buNone/>
            </a:pPr>
            <a:r>
              <a:rPr b="1"/>
              <a:t>时间：10分钟 | 小组讨论后分享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第19页：练习点评与优化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典型问题与解决方案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700"/>
                <a:gridCol w="306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问题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优化建议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将”预约”作为借阅记录的属性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预约是独立业务概念，应作为独立对象（Reservation）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分馆作为图书的属性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分馆有独立管理责任，应作为对象（LibraryBranch）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忽略续借历史记录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续借应创建新的借阅记录或记录续借历史，便于追溯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所有用户都继承User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管理员也是用户，应统一继承体系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优化后的对象列表</a:t>
            </a:r>
          </a:p>
          <a:p>
            <a:pPr lvl="0"/>
            <a:r>
              <a:rPr/>
              <a:t>User（用户）← Student, Teacher, Librarian</a:t>
            </a:r>
          </a:p>
          <a:p>
            <a:pPr lvl="0"/>
            <a:r>
              <a:rPr/>
              <a:t>Book（图书）</a:t>
            </a:r>
          </a:p>
          <a:p>
            <a:pPr lvl="0"/>
            <a:r>
              <a:rPr/>
              <a:t>LibraryBranch（分馆）</a:t>
            </a:r>
          </a:p>
          <a:p>
            <a:pPr lvl="0"/>
            <a:r>
              <a:rPr/>
              <a:t>BorrowRecord（借阅记录）</a:t>
            </a:r>
          </a:p>
          <a:p>
            <a:pPr lvl="0"/>
            <a:r>
              <a:rPr/>
              <a:t>Reservation（预约记录）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第20页：OOA阶段产出：概念类图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概念类图规范</a:t>
            </a:r>
          </a:p>
          <a:p>
            <a:pPr lvl="0"/>
            <a:r>
              <a:rPr b="1"/>
              <a:t>类名</a:t>
            </a:r>
            <a:r>
              <a:rPr/>
              <a:t>：业务概念名称（中文或英文）</a:t>
            </a:r>
          </a:p>
          <a:p>
            <a:pPr lvl="0"/>
            <a:r>
              <a:rPr b="1"/>
              <a:t>属性</a:t>
            </a:r>
            <a:r>
              <a:rPr/>
              <a:t>：只写名称，不写类型和可见性（分析阶段不关心）</a:t>
            </a:r>
          </a:p>
          <a:p>
            <a:pPr lvl="0"/>
            <a:r>
              <a:rPr b="1"/>
              <a:t>方法</a:t>
            </a:r>
            <a:r>
              <a:rPr/>
              <a:t>：不写或只写关键业务方法</a:t>
            </a:r>
          </a:p>
          <a:p>
            <a:pPr lvl="0"/>
            <a:r>
              <a:rPr b="1"/>
              <a:t>关系</a:t>
            </a:r>
            <a:r>
              <a:rPr/>
              <a:t>：关联、继承、聚合、组合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图书管理系统概念类图（简化）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┌─────────────┐         ┌─────────────┐
│    User     │         │     Book    │
├─────────────┤         ├─────────────┤
│ userId      │◄───────│ isbn        │
│ name        │   借阅   │ title       │
│ email       │         │ author      │
└─────────────┘         │ status      │
△                  └─────────────┘
 /|\
/ | \
┌──┐┌──┐┌────┐
│学││教││管理│
│生││师││员  │
└──┘└──┘└────┘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第三部分：OOD设计过程（How）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第21页：从分析到设计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OOA vs OOD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理解问题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解决问题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做什么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怎么做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抽象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业务概念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实现细节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映射关系</a:t>
            </a:r>
          </a:p>
          <a:p>
            <a:pPr lvl="0" indent="0">
              <a:buNone/>
            </a:pPr>
            <a:r>
              <a:rPr>
                <a:latin typeface="Courier"/>
              </a:rPr>
              <a:t>分析类"用户" → 设计类 User (trait)
分析类"图书" → 设计类 Book (struct)
分析关系"借阅" → User 持有 Vec&lt;BorrowRecord&gt;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第22页：类的设计 - 类的组成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类的表示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┌─────────────────────────────────────┐
│           类名                       │
├─────────────────────────────────────┤
│ - 属性1: 类型     （私有）          │
│ - 属性2: 类型     （私有）           │
├─────────────────────────────────────┤
│ + 方法1(参数): 返回类型  （公开）   │
│ + 方法2(参数): 返回类型              │
└─────────────────────────────────────┘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可见性符号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private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自身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第23页：类设计示例 - User类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name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user_type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UserType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borrow_records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Vec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BorrowRecord</a:t>
            </a:r>
            <a:r>
              <a:rPr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can_borrow(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borrow_records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len()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max_books()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Book)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Result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can_borrow()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Err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"超过最大借书数量"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into())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>
                <a:latin typeface="Courier"/>
              </a:rPr>
              <a:t>book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is_available()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Err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"图书不可借"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into())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880000"/>
                </a:solidFill>
                <a:latin typeface="Courier"/>
              </a:rPr>
              <a:t>Ok</a:t>
            </a:r>
            <a:r>
              <a:rPr>
                <a:latin typeface="Courier"/>
              </a:rPr>
              <a:t>(())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第24页：接口设计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什么是接口？</a:t>
            </a:r>
          </a:p>
          <a:p>
            <a:pPr lvl="0"/>
            <a:r>
              <a:rPr/>
              <a:t>行为的抽象定义</a:t>
            </a:r>
          </a:p>
          <a:p>
            <a:pPr lvl="0"/>
            <a:r>
              <a:rPr/>
              <a:t>实现与使用分离</a:t>
            </a:r>
          </a:p>
          <a:p>
            <a:pPr lvl="0"/>
            <a:r>
              <a:rPr/>
              <a:t>依赖倒置的基础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Rust 接口设计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Repository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find(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Option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save(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entity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InMemoryUserRepo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Repository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InMemoryUserRepo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第25页：SOLID原则概述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五大原则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原则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单一职责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一个类只做一件事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开闭原则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对扩展开放，对修改关闭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里氏替换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子类可以替换父类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接口隔离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接口要小而专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依赖倒置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依赖抽象，不依赖具体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第26页：S - 单一职责（SRP）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一个类只应有一个引起它变化的原因。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违反：同时处理业务和持久化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save_to_db(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正确：分离职责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          </a:t>
            </a:r>
            <a:r>
              <a:rPr i="1">
                <a:solidFill>
                  <a:srgbClr val="60A0B0"/>
                </a:solidFill>
                <a:latin typeface="Courier"/>
              </a:rPr>
              <a:t>// 业务逻辑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UserRepository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// 持久化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第27页：O - 开闭原则（OCP）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对扩展开放，对修改关闭。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FineCalculator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days_overdue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DefaultFineCalculator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FineCalculator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DefaultFineCalculator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days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days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第28页：L - 里氏替换（LSP）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子类必须能够替换父类。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Student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Student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Teacher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Teacher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第29页：I - 接口隔离（ISP）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接口要小而专，避免胖接口。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胖接口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LibraryService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add_book(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isbn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分离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BookManager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add_book(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BorrowService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isbn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第30页：D - 依赖倒置（DIP）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依赖抽象，不依赖具体实现。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BorrowService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UserRepository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BookRepository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user_repo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book_repo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第31页：类图关系详解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六种关系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&lt;\|--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实现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&lt;\|..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can-do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--&gt;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.--&gt;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◇--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(可分离)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◆--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(不可分)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多重性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表示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恰好一个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零或一个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*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零或多个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第32页：完整类图示例</a:t>
            </a:r>
          </a:p>
          <a:p>
            <a:pPr lvl="0" indent="0">
              <a:buNone/>
            </a:pPr>
            <a:r>
              <a:rPr>
                <a:latin typeface="Courier"/>
              </a:rPr>
              <a:t>classDiagram
    class User {
        &lt;&lt;trait&gt;&gt;
        #id: String
        #name: String
        +borrow_limit(): u32
    }
    class Student
    class Teacher
    class Book {
        -isbn: String
        -title: String
        -available: bool
        +borrow()
        +return_book()
    }
    class BorrowRecord {
        -borrowDate: Date
        -dueDate: Date
        +is_overdue(): bool
    }
    User &lt;|-- Student
    User &lt;|-- Teacher
    User "1" --&gt; "*" BorrowRecord
    Book "1" --&gt; "*" BorrowRecord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第33页：设计优化与评审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评审检查点</a:t>
            </a:r>
          </a:p>
          <a:p>
            <a:pPr lvl="0"/>
            <a:r>
              <a:rPr/>
              <a:t>☐ 类职责是否单一？</a:t>
            </a:r>
          </a:p>
          <a:p>
            <a:pPr lvl="0"/>
            <a:r>
              <a:rPr/>
              <a:t>☐ 是否符合开闭原则？</a:t>
            </a:r>
          </a:p>
          <a:p>
            <a:pPr lvl="0"/>
            <a:r>
              <a:rPr/>
              <a:t>☐ 接口是否足够小？</a:t>
            </a:r>
          </a:p>
          <a:p>
            <a:pPr lvl="0"/>
            <a:r>
              <a:rPr/>
              <a:t>☐ 依赖是否指向抽象？</a:t>
            </a:r>
          </a:p>
          <a:p>
            <a:pPr lvl="0"/>
            <a:r>
              <a:rPr/>
              <a:t>☐ 类之间的关系是否合理？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常见问题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问题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解决方案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胖类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拆分职责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循环依赖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引入接口解耦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过度耦合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使用组合而非继承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第34页：课堂练习 - OOD设计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练习题</a:t>
            </a:r>
          </a:p>
          <a:p>
            <a:pPr lvl="0" indent="0" marL="0">
              <a:buNone/>
            </a:pPr>
            <a:r>
              <a:rPr/>
              <a:t>基于之前的OOA分析结果，完成以下OOD设计：</a:t>
            </a:r>
          </a:p>
          <a:p>
            <a:pPr lvl="0" indent="-342900" marL="342900">
              <a:buAutoNum type="arabicPeriod"/>
            </a:pPr>
            <a:r>
              <a:rPr/>
              <a:t>设计 User、Book、BorrowRecord 的详细属性和方法</a:t>
            </a:r>
          </a:p>
          <a:p>
            <a:pPr lvl="0" indent="-342900" marL="342900">
              <a:buAutoNum type="arabicPeriod"/>
            </a:pPr>
            <a:r>
              <a:rPr/>
              <a:t>应用 SOLID 原则</a:t>
            </a:r>
          </a:p>
          <a:p>
            <a:pPr lvl="0" indent="-342900" marL="342900">
              <a:buAutoNum type="arabicPeriod"/>
            </a:pPr>
            <a:r>
              <a:rPr/>
              <a:t>绘制完整的设计类图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第35页：总结 - OOA到OOD流程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完整流程</a:t>
            </a:r>
          </a:p>
          <a:p>
            <a:pPr lvl="0" indent="0">
              <a:buNone/>
            </a:pPr>
            <a:r>
              <a:rPr>
                <a:latin typeface="Courier"/>
              </a:rPr>
              <a:t>需求描述
    ↓
用例图（捕获功能需求）
    ↓
概念类图（领域模型）
    ↓
设计类图（详细设计）
    ↓
代码实现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核心产出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产出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用例图、概念类图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设计类图、接口设计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第36页：总结 - 为什么要用OO？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OO的核心价值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封装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隐藏细节，降低复杂度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复用代码，建立层次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多态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同一接口，多种实现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OO方法的优势</a:t>
            </a:r>
          </a:p>
          <a:p>
            <a:pPr lvl="0"/>
            <a:r>
              <a:rPr b="1"/>
              <a:t>应对变化</a:t>
            </a:r>
            <a:r>
              <a:rPr/>
              <a:t>：修改局部化</a:t>
            </a:r>
          </a:p>
          <a:p>
            <a:pPr lvl="0"/>
            <a:r>
              <a:rPr b="1"/>
              <a:t>团队协作</a:t>
            </a:r>
            <a:r>
              <a:rPr/>
              <a:t>：接口清晰</a:t>
            </a:r>
          </a:p>
          <a:p>
            <a:pPr lvl="0"/>
            <a:r>
              <a:rPr b="1"/>
              <a:t>系统演化</a:t>
            </a:r>
            <a:r>
              <a:rPr/>
              <a:t>：易于扩展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课堂小结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核心要点回顾</a:t>
            </a:r>
          </a:p>
          <a:p>
            <a:pPr lvl="0" indent="-342900" marL="342900">
              <a:buAutoNum type="arabicPeriod"/>
            </a:pPr>
            <a:r>
              <a:rPr b="1"/>
              <a:t>OO历史</a:t>
            </a:r>
            <a:r>
              <a:rPr/>
              <a:t>：从结构化到面向对象</a:t>
            </a:r>
          </a:p>
          <a:p>
            <a:pPr lvl="0" indent="-342900" marL="342900">
              <a:buAutoNum type="arabicPeriod"/>
            </a:pPr>
            <a:r>
              <a:rPr b="1"/>
              <a:t>OO核心</a:t>
            </a:r>
            <a:r>
              <a:rPr/>
              <a:t>：封装、继承、多态</a:t>
            </a:r>
          </a:p>
          <a:p>
            <a:pPr lvl="0" indent="-342900" marL="342900">
              <a:buAutoNum type="arabicPeriod"/>
            </a:pPr>
            <a:r>
              <a:rPr b="1"/>
              <a:t>OOA</a:t>
            </a:r>
            <a:r>
              <a:rPr/>
              <a:t>：用例图捕获需求 → 概念类图建模</a:t>
            </a:r>
          </a:p>
          <a:p>
            <a:pPr lvl="0" indent="-342900" marL="342900">
              <a:buAutoNum type="arabicPeriod"/>
            </a:pPr>
            <a:r>
              <a:rPr b="1"/>
              <a:t>OOD</a:t>
            </a:r>
            <a:r>
              <a:rPr/>
              <a:t>：设计类图 → 接口设计 → SOLID原则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下节预告</a:t>
            </a:r>
          </a:p>
          <a:p>
            <a:pPr lvl="0"/>
            <a:r>
              <a:rPr b="1"/>
              <a:t>第四讲</a:t>
            </a:r>
            <a:r>
              <a:rPr/>
              <a:t>：UML建模与规范</a:t>
            </a:r>
          </a:p>
          <a:p>
            <a:pPr lvl="1"/>
            <a:r>
              <a:rPr/>
              <a:t>顺序图，活动图、状态图</a:t>
            </a:r>
          </a:p>
          <a:p>
            <a:pPr lvl="1"/>
            <a:r>
              <a:rPr/>
              <a:t>组件图、部署图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谢谢！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2026-03-15T17:08:02Z</dcterms:created>
  <dcterms:modified xsi:type="dcterms:W3CDTF">2026-03-15T17:08:02Z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groundColor">
    <vt:lpwstr/>
  </property>
  <property fmtid="{D5CDD505-2E9C-101B-9397-08002B2CF9AE}" pid="3" name="color">
    <vt:lpwstr/>
  </property>
  <property fmtid="{D5CDD505-2E9C-101B-9397-08002B2CF9AE}" pid="4" name="marp">
    <vt:lpwstr>True</vt:lpwstr>
  </property>
  <property fmtid="{D5CDD505-2E9C-101B-9397-08002B2CF9AE}" pid="5" name="paginate">
    <vt:lpwstr>True</vt:lpwstr>
  </property>
  <property fmtid="{D5CDD505-2E9C-101B-9397-08002B2CF9AE}" pid="6" name="theme">
    <vt:lpwstr>gaia</vt:lpwstr>
  </property>
</Properties>
</file>
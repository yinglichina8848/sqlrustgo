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第16</a:t>
            </a:r>
          </a:p>
          <a:p>
            <a:r>
              <a:t>项目展示与职业发展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**项目成果展示**（30分钟）</a:t>
            </a:r>
          </a:p>
          <a:p>
            <a:pPr/>
            <a:r>
              <a:t>2. **课程总结**（20分钟）</a:t>
            </a:r>
          </a:p>
          <a:p>
            <a:pPr/>
            <a:r>
              <a:t>3. **职业发展路径**（25分钟）</a:t>
            </a:r>
          </a:p>
          <a:p>
            <a:pPr/>
            <a:r>
              <a:t>4. **AI时代职业规划**（15分钟）</a:t>
            </a:r>
          </a:p>
          <a:p>
            <a:pPr/>
            <a:r>
              <a:t>---</a:t>
            </a:r>
          </a:p>
          <a:p>
            <a:pPr/>
            <a:r>
              <a:t># Part 1: 项目成果展示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SQLRustGo项目回顾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项目目标</a:t>
            </a:r>
          </a:p>
          <a:p>
            <a:pPr/>
            <a:r>
              <a:t>构建一个功能完整的SQL数据库，支持基本的CRUD操作</a:t>
            </a:r>
          </a:p>
          <a:p>
            <a:pPr/>
            <a:r>
              <a:t>### 项目成果</a:t>
            </a:r>
          </a:p>
          <a:p>
            <a:pPr/>
            <a:r>
              <a:t>- ✅ 完成SQL解析器</a:t>
            </a:r>
          </a:p>
          <a:p>
            <a:pPr/>
            <a:r>
              <a:t>- ✅ 完成查询优化器</a:t>
            </a:r>
          </a:p>
          <a:p>
            <a:pPr/>
            <a:r>
              <a:t>- ✅ 完成执行引擎</a:t>
            </a:r>
          </a:p>
          <a:p>
            <a:pPr/>
            <a:r>
              <a:t>- ✅ 完成存储引擎</a:t>
            </a:r>
          </a:p>
          <a:p>
            <a:pPr/>
            <a:r>
              <a:t>- ✅ 支持事务处理</a:t>
            </a:r>
          </a:p>
          <a:p>
            <a:pPr/>
            <a:r>
              <a:t>- ✅ 支持并发访问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项目统计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代码统计</a:t>
            </a:r>
          </a:p>
          <a:p>
            <a:pPr/>
            <a:r>
              <a:t>| 指标 | 数值 |</a:t>
            </a:r>
          </a:p>
          <a:p>
            <a:pPr/>
            <a:r>
              <a:t>|------|------|</a:t>
            </a:r>
          </a:p>
          <a:p>
            <a:pPr/>
            <a:r>
              <a:t>| 代码行数 | 15,000+ |</a:t>
            </a:r>
          </a:p>
          <a:p>
            <a:pPr/>
            <a:r>
              <a:t>| 测试覆盖率 | 85% |</a:t>
            </a:r>
          </a:p>
          <a:p>
            <a:pPr/>
            <a:r>
              <a:t>| 文档完整度 | 90% |</a:t>
            </a:r>
          </a:p>
          <a:p>
            <a:pPr/>
            <a:r>
              <a:t>| 性能 | 1200 QPS |</a:t>
            </a:r>
          </a:p>
          <a:p>
            <a:pPr/>
            <a:r>
              <a:t>### 功能统计</a:t>
            </a:r>
          </a:p>
          <a:p>
            <a:pPr/>
            <a:r>
              <a:t>| 功能 | 状态 |</a:t>
            </a:r>
          </a:p>
          <a:p>
            <a:pPr/>
            <a:r>
              <a:t>|------|------|</a:t>
            </a:r>
          </a:p>
          <a:p>
            <a:pPr/>
            <a:r>
              <a:t>| SQL解析 | ✅ 完成 |</a:t>
            </a:r>
          </a:p>
          <a:p>
            <a:pPr/>
            <a:r>
              <a:t>| 查询优化 | ✅ 完成 |</a:t>
            </a:r>
          </a:p>
          <a:p>
            <a:pPr/>
            <a:r>
              <a:t>| 数据存储 | ✅ 完成 |</a:t>
            </a:r>
          </a:p>
          <a:p>
            <a:pPr/>
            <a:r>
              <a:t>| 事务处理 | ✅ 完成 |</a:t>
            </a:r>
          </a:p>
          <a:p>
            <a:pPr/>
            <a:r>
              <a:t>| 并发控制 | ✅ 完成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项目展示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功能演示</a:t>
            </a:r>
          </a:p>
          <a:p>
            <a:pPr/>
            <a:r>
              <a:t>- SQL查询演示</a:t>
            </a:r>
          </a:p>
          <a:p>
            <a:pPr/>
            <a:r>
              <a:t>- 事务处理演示</a:t>
            </a:r>
          </a:p>
          <a:p>
            <a:pPr/>
            <a:r>
              <a:t>- 并发访问演示</a:t>
            </a:r>
          </a:p>
          <a:p>
            <a:pPr/>
            <a:r>
              <a:t>### 性能演示</a:t>
            </a:r>
          </a:p>
          <a:p>
            <a:pPr/>
            <a:r>
              <a:t>- 查询性能测试</a:t>
            </a:r>
          </a:p>
          <a:p>
            <a:pPr/>
            <a:r>
              <a:t>- 并发性能测试</a:t>
            </a:r>
          </a:p>
          <a:p>
            <a:pPr/>
            <a:r>
              <a:t>- 压力测试</a:t>
            </a:r>
          </a:p>
          <a:p>
            <a:pPr/>
            <a:r>
              <a:t>### 代码演示</a:t>
            </a:r>
          </a:p>
          <a:p>
            <a:pPr/>
            <a:r>
              <a:t>- 核心代码讲解</a:t>
            </a:r>
          </a:p>
          <a:p>
            <a:pPr/>
            <a:r>
              <a:t>- 设计模式应用</a:t>
            </a:r>
          </a:p>
          <a:p>
            <a:pPr/>
            <a:r>
              <a:t>- 最佳实践分享</a:t>
            </a:r>
          </a:p>
          <a:p>
            <a:pPr/>
            <a:r>
              <a:t>---</a:t>
            </a:r>
          </a:p>
          <a:p>
            <a:pPr/>
            <a:r>
              <a:t># Part 2: 课程总结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知识点回顾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上半学期（第1-8周）</a:t>
            </a:r>
          </a:p>
          <a:p>
            <a:pPr/>
            <a:r>
              <a:t>| 周次 | 理论知识 | 实践技能 |</a:t>
            </a:r>
          </a:p>
          <a:p>
            <a:pPr/>
            <a:r>
              <a:t>|------|----------|----------|</a:t>
            </a:r>
          </a:p>
          <a:p>
            <a:pPr/>
            <a:r>
              <a:t>| 1 | 软件工程发展历史、Greenfield/Brownfield | 环境搭建 |</a:t>
            </a:r>
          </a:p>
          <a:p>
            <a:pPr/>
            <a:r>
              <a:t>| 2 | 结构化设计、UML基础、用例图 | PlantUML使用 |</a:t>
            </a:r>
          </a:p>
          <a:p>
            <a:pPr/>
            <a:r>
              <a:t>| 3 | 面向对象设计、SOLID原则、类图 | 类图绘制 |</a:t>
            </a:r>
          </a:p>
          <a:p>
            <a:pPr/>
            <a:r>
              <a:t>| 4 | 顺序图、状态图、架构图、快速原型法 | UML综合实践 |</a:t>
            </a:r>
          </a:p>
          <a:p>
            <a:pPr/>
            <a:r>
              <a:t>| 5 | 架构设计原理、SQLRustGo架构 | 架构图绘制 |</a:t>
            </a:r>
          </a:p>
          <a:p>
            <a:pPr/>
            <a:r>
              <a:t>| 6 | 功能模块划分、接口设计 | 模块设计 |</a:t>
            </a:r>
          </a:p>
          <a:p>
            <a:pPr/>
            <a:r>
              <a:t>| 7 | AI辅助开发、核心模块实现 | 编码实践 |</a:t>
            </a:r>
          </a:p>
          <a:p>
            <a:pPr/>
            <a:r>
              <a:t>| 8 | TDD、AI辅助测试、Alpha版本验收 | 测试编写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知识点回顾（续）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下半学期（第9-16周）</a:t>
            </a:r>
          </a:p>
          <a:p>
            <a:pPr/>
            <a:r>
              <a:t>| 周次 | 理论知识 | 实践技能 |</a:t>
            </a:r>
          </a:p>
          <a:p>
            <a:pPr/>
            <a:r>
              <a:t>|------|----------|----------|</a:t>
            </a:r>
          </a:p>
          <a:p>
            <a:pPr/>
            <a:r>
              <a:t>| 9 | 软件治理、分支策略 | Git协作 |</a:t>
            </a:r>
          </a:p>
          <a:p>
            <a:pPr/>
            <a:r>
              <a:t>| 10 | PR工作流、项目成熟度评估 | PR实践 |</a:t>
            </a:r>
          </a:p>
          <a:p>
            <a:pPr/>
            <a:r>
              <a:t>| 11 | CI/CD、OpenClaw自动化 | 自动化配置 |</a:t>
            </a:r>
          </a:p>
          <a:p>
            <a:pPr/>
            <a:r>
              <a:t>| 12 | 性能优化、代码重构 | 性能分析 |</a:t>
            </a:r>
          </a:p>
          <a:p>
            <a:pPr/>
            <a:r>
              <a:t>| 13 | 安全扫描、审计 | 安全检查 |</a:t>
            </a:r>
          </a:p>
          <a:p>
            <a:pPr/>
            <a:r>
              <a:t>| 14 | 发布门禁、检查清单 | 门禁配置 |</a:t>
            </a:r>
          </a:p>
          <a:p>
            <a:pPr/>
            <a:r>
              <a:t>| 15 | 版本发布、长期规划 | 版本管理 |</a:t>
            </a:r>
          </a:p>
          <a:p>
            <a:pPr/>
            <a:r>
              <a:t>| 16 | 项目展示、职业发展 | 职业规划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能力培养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工程思维</a:t>
            </a:r>
          </a:p>
          <a:p>
            <a:pPr/>
            <a:r>
              <a:t>- 理解软件工程的本质和发展历程</a:t>
            </a:r>
          </a:p>
          <a:p>
            <a:pPr/>
            <a:r>
              <a:t>- 掌握结构化设计和面向对象设计方法</a:t>
            </a:r>
          </a:p>
          <a:p>
            <a:pPr/>
            <a:r>
              <a:t>- 理解快速原型法的软件工程过程</a:t>
            </a:r>
          </a:p>
          <a:p>
            <a:pPr/>
            <a:r>
              <a:t>### UML建模能力</a:t>
            </a:r>
          </a:p>
          <a:p>
            <a:pPr/>
            <a:r>
              <a:t>- 掌握用例图、类图、顺序图、状态图、架构图</a:t>
            </a:r>
          </a:p>
          <a:p>
            <a:pPr/>
            <a:r>
              <a:t>- 能够使用PlantUML进行文本化建模</a:t>
            </a:r>
          </a:p>
          <a:p>
            <a:pPr/>
            <a:r>
              <a:t>- 能够使用AI辅助UML绘图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能力培养（续）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AI应用能力</a:t>
            </a:r>
          </a:p>
          <a:p>
            <a:pPr/>
            <a:r>
              <a:t>- 理解AI Coding的能力边界和局限性</a:t>
            </a:r>
          </a:p>
          <a:p>
            <a:pPr/>
            <a:r>
              <a:t>- 掌握提示词工程基础</a:t>
            </a:r>
          </a:p>
          <a:p>
            <a:pPr/>
            <a:r>
              <a:t>- 能够使用AI工具辅助设计和编码</a:t>
            </a:r>
          </a:p>
          <a:p>
            <a:pPr/>
            <a:r>
              <a:t>- 能够审查和优化AI生成的代码</a:t>
            </a:r>
          </a:p>
          <a:p>
            <a:pPr/>
            <a:r>
              <a:t>### 开发能力</a:t>
            </a:r>
          </a:p>
          <a:p>
            <a:pPr/>
            <a:r>
              <a:t>- 能够实现词法分析器和语法分析器</a:t>
            </a:r>
          </a:p>
          <a:p>
            <a:pPr/>
            <a:r>
              <a:t>- 能够实现存储引擎核心模块</a:t>
            </a:r>
          </a:p>
          <a:p>
            <a:pPr/>
            <a:r>
              <a:t>- 能够编写规范的测试用例</a:t>
            </a:r>
          </a:p>
          <a:p>
            <a:pPr/>
            <a:r>
              <a:t>- 能够完成版本发布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课程收获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技术能力</a:t>
            </a:r>
          </a:p>
          <a:p>
            <a:pPr/>
            <a:r>
              <a:t>- ✅ 掌握Rust编程语言</a:t>
            </a:r>
          </a:p>
          <a:p>
            <a:pPr/>
            <a:r>
              <a:t>- ✅ 掌握数据库系统原理</a:t>
            </a:r>
          </a:p>
          <a:p>
            <a:pPr/>
            <a:r>
              <a:t>- ✅ 掌握软件工程方法</a:t>
            </a:r>
          </a:p>
          <a:p>
            <a:pPr/>
            <a:r>
              <a:t>- ✅ 掌握AI辅助开发</a:t>
            </a:r>
          </a:p>
          <a:p>
            <a:pPr/>
            <a:r>
              <a:t>### 工程能力</a:t>
            </a:r>
          </a:p>
          <a:p>
            <a:pPr/>
            <a:r>
              <a:t>- ✅ 掌握Git协作开发</a:t>
            </a:r>
          </a:p>
          <a:p>
            <a:pPr/>
            <a:r>
              <a:t>- ✅ 掌握CI/CD自动化</a:t>
            </a:r>
          </a:p>
          <a:p>
            <a:pPr/>
            <a:r>
              <a:t>- ✅ 掌握测试驱动开发</a:t>
            </a:r>
          </a:p>
          <a:p>
            <a:pPr/>
            <a:r>
              <a:t>- ✅ 掌握代码审查</a:t>
            </a:r>
          </a:p>
          <a:p>
            <a:pPr/>
            <a:r>
              <a:t>### 职业素养</a:t>
            </a:r>
          </a:p>
          <a:p>
            <a:pPr/>
            <a:r>
              <a:t>- ✅ 团队协作能力</a:t>
            </a:r>
          </a:p>
          <a:p>
            <a:pPr/>
            <a:r>
              <a:t>- ✅ 沟通表达能力</a:t>
            </a:r>
          </a:p>
          <a:p>
            <a:pPr/>
            <a:r>
              <a:t>- ✅ 问题解决能力</a:t>
            </a:r>
          </a:p>
          <a:p>
            <a:pPr/>
            <a:r>
              <a:t>- ✅ 持续学习能力</a:t>
            </a:r>
          </a:p>
          <a:p>
            <a:pPr/>
            <a:r>
              <a:t>---</a:t>
            </a:r>
          </a:p>
          <a:p>
            <a:pPr/>
            <a:r>
              <a:t># Part 3: 职业发展路径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软件工程师职业路径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初级工程师（0-2年）</a:t>
            </a:r>
          </a:p>
          <a:p>
            <a:pPr/>
            <a:r>
              <a:t>**职责**：</a:t>
            </a:r>
          </a:p>
          <a:p>
            <a:pPr/>
            <a:r>
              <a:t>- 完成分配的开发任务</a:t>
            </a:r>
          </a:p>
          <a:p>
            <a:pPr/>
            <a:r>
              <a:t>- 编写单元测试</a:t>
            </a:r>
          </a:p>
          <a:p>
            <a:pPr/>
            <a:r>
              <a:t>- 参与代码审查</a:t>
            </a:r>
          </a:p>
          <a:p>
            <a:pPr/>
            <a:r>
              <a:t>**技能要求**：</a:t>
            </a:r>
          </a:p>
          <a:p>
            <a:pPr/>
            <a:r>
              <a:t>- 掌握一门编程语言</a:t>
            </a:r>
          </a:p>
          <a:p>
            <a:pPr/>
            <a:r>
              <a:t>- 掌握基本数据结构和算法</a:t>
            </a:r>
          </a:p>
          <a:p>
            <a:pPr/>
            <a:r>
              <a:t>- 掌握版本控制工具</a:t>
            </a:r>
          </a:p>
          <a:p>
            <a:pPr/>
            <a:r>
              <a:t>**薪资范围**：10-20K/月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软件工程师职业路径（续）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中级工程师（2-5年）</a:t>
            </a:r>
          </a:p>
          <a:p>
            <a:pPr/>
            <a:r>
              <a:t>**职责**：</a:t>
            </a:r>
          </a:p>
          <a:p>
            <a:pPr/>
            <a:r>
              <a:t>- 独立完成模块开发</a:t>
            </a:r>
          </a:p>
          <a:p>
            <a:pPr/>
            <a:r>
              <a:t>- 参与系统设计</a:t>
            </a:r>
          </a:p>
          <a:p>
            <a:pPr/>
            <a:r>
              <a:t>- 指导初级工程师</a:t>
            </a:r>
          </a:p>
          <a:p>
            <a:pPr/>
            <a:r>
              <a:t>**技能要求**：</a:t>
            </a:r>
          </a:p>
          <a:p>
            <a:pPr/>
            <a:r>
              <a:t>- 精通一门编程语言</a:t>
            </a:r>
          </a:p>
          <a:p>
            <a:pPr/>
            <a:r>
              <a:t>- 掌握设计模式</a:t>
            </a:r>
          </a:p>
          <a:p>
            <a:pPr/>
            <a:r>
              <a:t>- 掌握系统设计</a:t>
            </a:r>
          </a:p>
          <a:p>
            <a:pPr/>
            <a:r>
              <a:t>**薪资范围**：20-35K/月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软件工程师职业路径（续）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高级工程师（5-10年）</a:t>
            </a:r>
          </a:p>
          <a:p>
            <a:pPr/>
            <a:r>
              <a:t>**职责**：</a:t>
            </a:r>
          </a:p>
          <a:p>
            <a:pPr/>
            <a:r>
              <a:t>- 负责系统架构设计</a:t>
            </a:r>
          </a:p>
          <a:p>
            <a:pPr/>
            <a:r>
              <a:t>- 解决技术难题</a:t>
            </a:r>
          </a:p>
          <a:p>
            <a:pPr/>
            <a:r>
              <a:t>- 技术团队管理</a:t>
            </a:r>
          </a:p>
          <a:p>
            <a:pPr/>
            <a:r>
              <a:t>**技能要求**：</a:t>
            </a:r>
          </a:p>
          <a:p>
            <a:pPr/>
            <a:r>
              <a:t>- 精通多种编程语言</a:t>
            </a:r>
          </a:p>
          <a:p>
            <a:pPr/>
            <a:r>
              <a:t>- 掌握架构设计</a:t>
            </a:r>
          </a:p>
          <a:p>
            <a:pPr/>
            <a:r>
              <a:t>- 掌握性能优化</a:t>
            </a:r>
          </a:p>
          <a:p>
            <a:pPr/>
            <a:r>
              <a:t>**薪资范围**：35-60K/月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技术专家路径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系统架构师</a:t>
            </a:r>
          </a:p>
          <a:p>
            <a:pPr/>
            <a:r>
              <a:t>**职责**：</a:t>
            </a:r>
          </a:p>
          <a:p>
            <a:pPr/>
            <a:r>
              <a:t>- 系统架构设计</a:t>
            </a:r>
          </a:p>
          <a:p>
            <a:pPr/>
            <a:r>
              <a:t>- 技术选型决策</a:t>
            </a:r>
          </a:p>
          <a:p>
            <a:pPr/>
            <a:r>
              <a:t>- 技术风险控制</a:t>
            </a:r>
          </a:p>
          <a:p>
            <a:pPr/>
            <a:r>
              <a:t>**技能要求**：</a:t>
            </a:r>
          </a:p>
          <a:p>
            <a:pPr/>
            <a:r>
              <a:t>- 丰富的系统设计经验</a:t>
            </a:r>
          </a:p>
          <a:p>
            <a:pPr/>
            <a:r>
              <a:t>- 深入理解分布式系统</a:t>
            </a:r>
          </a:p>
          <a:p>
            <a:pPr/>
            <a:r>
              <a:t>- 优秀的沟通能力</a:t>
            </a:r>
          </a:p>
          <a:p>
            <a:pPr/>
            <a:r>
              <a:t>**薪资范围**：50-100K/月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技术专家路径（续）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技术专家</a:t>
            </a:r>
          </a:p>
          <a:p>
            <a:pPr/>
            <a:r>
              <a:t>**职责**：</a:t>
            </a:r>
          </a:p>
          <a:p>
            <a:pPr/>
            <a:r>
              <a:t>- 解决核心技术难题</a:t>
            </a:r>
          </a:p>
          <a:p>
            <a:pPr/>
            <a:r>
              <a:t>- 技术方向规划</a:t>
            </a:r>
          </a:p>
          <a:p>
            <a:pPr/>
            <a:r>
              <a:t>- 技术团队培养</a:t>
            </a:r>
          </a:p>
          <a:p>
            <a:pPr/>
            <a:r>
              <a:t>**技能要求**：</a:t>
            </a:r>
          </a:p>
          <a:p>
            <a:pPr/>
            <a:r>
              <a:t>- 深厚的专业技术积累</a:t>
            </a:r>
          </a:p>
          <a:p>
            <a:pPr/>
            <a:r>
              <a:t>- 技术前瞻性</a:t>
            </a:r>
          </a:p>
          <a:p>
            <a:pPr/>
            <a:r>
              <a:t>- 技术影响力</a:t>
            </a:r>
          </a:p>
          <a:p>
            <a:pPr/>
            <a:r>
              <a:t>**薪资范围**：60-150K/月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管理路径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工程经理</a:t>
            </a:r>
          </a:p>
          <a:p>
            <a:pPr/>
            <a:r>
              <a:t>**职责**：</a:t>
            </a:r>
          </a:p>
          <a:p>
            <a:pPr/>
            <a:r>
              <a:t>- 团队管理</a:t>
            </a:r>
          </a:p>
          <a:p>
            <a:pPr/>
            <a:r>
              <a:t>- 项目管理</a:t>
            </a:r>
          </a:p>
          <a:p>
            <a:pPr/>
            <a:r>
              <a:t>- 人员培养</a:t>
            </a:r>
          </a:p>
          <a:p>
            <a:pPr/>
            <a:r>
              <a:t>**技能要求**：</a:t>
            </a:r>
          </a:p>
          <a:p>
            <a:pPr/>
            <a:r>
              <a:t>- 技术背景</a:t>
            </a:r>
          </a:p>
          <a:p>
            <a:pPr/>
            <a:r>
              <a:t>- 管理能力</a:t>
            </a:r>
          </a:p>
          <a:p>
            <a:pPr/>
            <a:r>
              <a:t>- 沟通协调</a:t>
            </a:r>
          </a:p>
          <a:p>
            <a:pPr/>
            <a:r>
              <a:t>**薪资范围**：40-80K/月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管理路径（续）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产品经理</a:t>
            </a:r>
          </a:p>
          <a:p>
            <a:pPr/>
            <a:r>
              <a:t>**职责**：</a:t>
            </a:r>
          </a:p>
          <a:p>
            <a:pPr/>
            <a:r>
              <a:t>- 产品规划</a:t>
            </a:r>
          </a:p>
          <a:p>
            <a:pPr/>
            <a:r>
              <a:t>- 需求分析</a:t>
            </a:r>
          </a:p>
          <a:p>
            <a:pPr/>
            <a:r>
              <a:t>- 产品迭代</a:t>
            </a:r>
          </a:p>
          <a:p>
            <a:pPr/>
            <a:r>
              <a:t>**技能要求**：</a:t>
            </a:r>
          </a:p>
          <a:p>
            <a:pPr/>
            <a:r>
              <a:t>- 产品思维</a:t>
            </a:r>
          </a:p>
          <a:p>
            <a:pPr/>
            <a:r>
              <a:t>- 用户洞察</a:t>
            </a:r>
          </a:p>
          <a:p>
            <a:pPr/>
            <a:r>
              <a:t>- 数据分析</a:t>
            </a:r>
          </a:p>
          <a:p>
            <a:pPr/>
            <a:r>
              <a:t>**薪资范围**：30-70K/月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管理路径（续）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项目经理</a:t>
            </a:r>
          </a:p>
          <a:p>
            <a:pPr/>
            <a:r>
              <a:t>**职责**：</a:t>
            </a:r>
          </a:p>
          <a:p>
            <a:pPr/>
            <a:r>
              <a:t>- 项目规划</a:t>
            </a:r>
          </a:p>
          <a:p>
            <a:pPr/>
            <a:r>
              <a:t>- 进度控制</a:t>
            </a:r>
          </a:p>
          <a:p>
            <a:pPr/>
            <a:r>
              <a:t>- 风险管理</a:t>
            </a:r>
          </a:p>
          <a:p>
            <a:pPr/>
            <a:r>
              <a:t>**技能要求**：</a:t>
            </a:r>
          </a:p>
          <a:p>
            <a:pPr/>
            <a:r>
              <a:t>- 项目管理方法</a:t>
            </a:r>
          </a:p>
          <a:p>
            <a:pPr/>
            <a:r>
              <a:t>- 沟通协调</a:t>
            </a:r>
          </a:p>
          <a:p>
            <a:pPr/>
            <a:r>
              <a:t>- 风险控制</a:t>
            </a:r>
          </a:p>
          <a:p>
            <a:pPr/>
            <a:r>
              <a:t>**薪资范围**：25-50K/月</a:t>
            </a:r>
          </a:p>
          <a:p>
            <a:pPr/>
            <a:r>
              <a:t>---</a:t>
            </a:r>
          </a:p>
          <a:p>
            <a:pPr/>
            <a:r>
              <a:t># Part 4: AI时代职业规划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AI对职业的影响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职业变化</a:t>
            </a:r>
          </a:p>
          <a:p>
            <a:pPr/>
            <a:r>
              <a:t>- **消失的职业**：重复性、规则性工作</a:t>
            </a:r>
          </a:p>
          <a:p>
            <a:pPr/>
            <a:r>
              <a:t>- **新增的职业**：AI训练师、AI产品经理、AI伦理专家</a:t>
            </a:r>
          </a:p>
          <a:p>
            <a:pPr/>
            <a:r>
              <a:t>- **转型的职业**：程序员 → AI辅助开发者</a:t>
            </a:r>
          </a:p>
          <a:p>
            <a:pPr/>
            <a:r>
              <a:t>### 能力要求变化</a:t>
            </a:r>
          </a:p>
          <a:p>
            <a:pPr/>
            <a:r>
              <a:t>- **基础能力**：编程、测试、文档</a:t>
            </a:r>
          </a:p>
          <a:p>
            <a:pPr/>
            <a:r>
              <a:t>- **新增能力**：提示词工程、AI协作、AI审查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AI时代核心竞争力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技术能力</a:t>
            </a:r>
          </a:p>
          <a:p>
            <a:pPr/>
            <a:r>
              <a:t>- **系统思维**：理解系统整体架构</a:t>
            </a:r>
          </a:p>
          <a:p>
            <a:pPr/>
            <a:r>
              <a:t>- **问题解决**：解决复杂技术问题</a:t>
            </a:r>
          </a:p>
          <a:p>
            <a:pPr/>
            <a:r>
              <a:t>- **技术创新**：创造新的技术方案</a:t>
            </a:r>
          </a:p>
          <a:p>
            <a:pPr/>
            <a:r>
              <a:t>### 协作能力</a:t>
            </a:r>
          </a:p>
          <a:p>
            <a:pPr/>
            <a:r>
              <a:t>- **人机协作**：与AI工具高效协作</a:t>
            </a:r>
          </a:p>
          <a:p>
            <a:pPr/>
            <a:r>
              <a:t>- **团队协作**：与团队成员高效协作</a:t>
            </a:r>
          </a:p>
          <a:p>
            <a:pPr/>
            <a:r>
              <a:t>- **跨部门协作**：与其他部门高效协作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AI时代核心竞争力（续）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学习能力</a:t>
            </a:r>
          </a:p>
          <a:p>
            <a:pPr/>
            <a:r>
              <a:t>- **快速学习**：快速掌握新技术</a:t>
            </a:r>
          </a:p>
          <a:p>
            <a:pPr/>
            <a:r>
              <a:t>- **持续学习**：保持技术更新</a:t>
            </a:r>
          </a:p>
          <a:p>
            <a:pPr/>
            <a:r>
              <a:t>- **深度学习**：深入理解技术原理</a:t>
            </a:r>
          </a:p>
          <a:p>
            <a:pPr/>
            <a:r>
              <a:t>### 创新能力</a:t>
            </a:r>
          </a:p>
          <a:p>
            <a:pPr/>
            <a:r>
              <a:t>- **技术创新**：创造新的技术方案</a:t>
            </a:r>
          </a:p>
          <a:p>
            <a:pPr/>
            <a:r>
              <a:t>- **产品创新**：创造新的产品功能</a:t>
            </a:r>
          </a:p>
          <a:p>
            <a:pPr/>
            <a:r>
              <a:t>- **流程创新**：优化工作流程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职业发展建议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短期目标（1-2年）</a:t>
            </a:r>
          </a:p>
          <a:p>
            <a:pPr/>
            <a:r>
              <a:t>- 掌握AI辅助开发工具</a:t>
            </a:r>
          </a:p>
          <a:p>
            <a:pPr/>
            <a:r>
              <a:t>- 提高编程效率和质量</a:t>
            </a:r>
          </a:p>
          <a:p>
            <a:pPr/>
            <a:r>
              <a:t>- 积累项目经验</a:t>
            </a:r>
          </a:p>
          <a:p>
            <a:pPr/>
            <a:r>
              <a:t>### 中期目标（3-5年）</a:t>
            </a:r>
          </a:p>
          <a:p>
            <a:pPr/>
            <a:r>
              <a:t>- 成为技术专家</a:t>
            </a:r>
          </a:p>
          <a:p>
            <a:pPr/>
            <a:r>
              <a:t>- 掌握系统架构设计</a:t>
            </a:r>
          </a:p>
          <a:p>
            <a:pPr/>
            <a:r>
              <a:t>- 培养团队管理能力</a:t>
            </a:r>
          </a:p>
          <a:p>
            <a:pPr/>
            <a:r>
              <a:t>### 长期目标（5-10年）</a:t>
            </a:r>
          </a:p>
          <a:p>
            <a:pPr/>
            <a:r>
              <a:t>- 成为架构师或技术总监</a:t>
            </a:r>
          </a:p>
          <a:p>
            <a:pPr/>
            <a:r>
              <a:t>- 建立技术影响力</a:t>
            </a:r>
          </a:p>
          <a:p>
            <a:pPr/>
            <a:r>
              <a:t>- 实现职业价值</a:t>
            </a:r>
          </a:p>
          <a:p>
            <a:pPr/>
            <a:r>
              <a:t>---</a:t>
            </a:r>
          </a:p>
          <a:p>
            <a:pPr/>
            <a:r>
              <a:t># 课程结束语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感谢大家一学期的努力和付出！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祝福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祝愿大家在未来的职业道路上取得成功！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邮箱：teacher@example.com</a:t>
            </a:r>
          </a:p>
          <a:p>
            <a:pPr/>
            <a:r>
              <a:t>- GitHub：github.com/sqlrustgo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祝大家前程似锦！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
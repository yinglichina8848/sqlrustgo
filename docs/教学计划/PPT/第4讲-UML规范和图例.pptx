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第四讲：UML规范和图例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AI时代的建模语言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UML简介与分类（10分钟）</a:t>
            </a:r>
          </a:p>
          <a:p>
            <a:pPr lvl="0" indent="-342900" marL="342900">
              <a:buAutoNum type="arabicPeriod"/>
            </a:pPr>
            <a:r>
              <a:rPr/>
              <a:t>结构图（20分钟）</a:t>
            </a:r>
          </a:p>
          <a:p>
            <a:pPr lvl="0" indent="-342900" marL="342900">
              <a:buAutoNum type="arabicPeriod"/>
            </a:pPr>
            <a:r>
              <a:rPr/>
              <a:t>行为图（20分钟）</a:t>
            </a:r>
          </a:p>
          <a:p>
            <a:pPr lvl="0" indent="-342900" marL="342900">
              <a:buAutoNum type="arabicPeriod"/>
            </a:pPr>
            <a:r>
              <a:rPr/>
              <a:t>交互图（15分钟）</a:t>
            </a:r>
          </a:p>
          <a:p>
            <a:pPr lvl="0" indent="-342900" marL="342900">
              <a:buAutoNum type="arabicPeriod"/>
            </a:pPr>
            <a:r>
              <a:rPr/>
              <a:t>AI辅助UML实践（15分钟）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UML简介与分类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1.1 UML是什么？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统一建模语言（Unified Modeling Language）</a:t>
            </a:r>
          </a:p>
          <a:p>
            <a:pPr lvl="0"/>
            <a:r>
              <a:rPr/>
              <a:t>软件工程的标准建模语言</a:t>
            </a:r>
          </a:p>
          <a:p>
            <a:pPr lvl="0"/>
            <a:r>
              <a:rPr/>
              <a:t>可视化、规范化、文档化</a:t>
            </a:r>
          </a:p>
          <a:p>
            <a:pPr lvl="0"/>
            <a:r>
              <a:rPr/>
              <a:t>不是方法论，而是工具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UML图分类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图类型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类图、对象图、包图、组件图、部署图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行为图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用例图、活动图、状态图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交互图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顺序图、通信图、时间图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1.2 UML在AI时代的价值</a:t>
            </a:r>
          </a:p>
          <a:p>
            <a:pPr lvl="0"/>
            <a:r>
              <a:rPr b="1"/>
              <a:t>沟通桥梁</a:t>
            </a:r>
            <a:r>
              <a:rPr/>
              <a:t>：人机对话的标准化语言</a:t>
            </a:r>
          </a:p>
          <a:p>
            <a:pPr lvl="0"/>
            <a:r>
              <a:rPr b="1"/>
              <a:t>AI生成</a:t>
            </a:r>
            <a:r>
              <a:rPr/>
              <a:t>：自然语言 → UML</a:t>
            </a:r>
          </a:p>
          <a:p>
            <a:pPr lvl="0"/>
            <a:r>
              <a:rPr b="1"/>
              <a:t>代码同步</a:t>
            </a:r>
            <a:r>
              <a:rPr/>
              <a:t>：UML ↔ 代码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结构图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2.1 类图（Class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类的表示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┌─────────────────────────┐
│        类名             │
├─────────────────────────┤
│ - 属性1: 类型           │
│ - 属性2: 类型           │
├─────────────────────────┤
│ + 方法1(): 返回类型     │
│ + 方法2(参数): 返回类型 │
└─────────────────────────┘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可见性符号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protected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2.2 类图关系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 (空心三角)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──▶ 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 (虚线空心三角)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-.▶ 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──→ 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──→ (虚线)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.─→ 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◇──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◇── 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◆──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 ◆── 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2.3 对象图（Object Diagram）</a:t>
            </a:r>
          </a:p>
          <a:p>
            <a:pPr lvl="0"/>
            <a:r>
              <a:rPr/>
              <a:t>类的实例化</a:t>
            </a:r>
          </a:p>
          <a:p>
            <a:pPr lvl="0"/>
            <a:r>
              <a:rPr/>
              <a:t>某一时刻的对象快照</a:t>
            </a:r>
          </a:p>
          <a:p>
            <a:pPr lvl="0"/>
            <a:r>
              <a:rPr/>
              <a:t>展示对象之间的关系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2.4 组件图（Component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用途</a:t>
            </a:r>
          </a:p>
          <a:p>
            <a:pPr lvl="0"/>
            <a:r>
              <a:rPr/>
              <a:t>描述系统的物理结构</a:t>
            </a:r>
          </a:p>
          <a:p>
            <a:pPr lvl="0"/>
            <a:r>
              <a:rPr/>
              <a:t>展示组件及其依赖</a:t>
            </a:r>
          </a:p>
          <a:p>
            <a:pPr lvl="0"/>
            <a:r>
              <a:rPr/>
              <a:t>接口和连接件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2.5 部署图（Deployment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用途</a:t>
            </a:r>
          </a:p>
          <a:p>
            <a:pPr lvl="0"/>
            <a:r>
              <a:rPr/>
              <a:t>描述系统物理部署</a:t>
            </a:r>
          </a:p>
          <a:p>
            <a:pPr lvl="0"/>
            <a:r>
              <a:rPr/>
              <a:t>节点、组件、网络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行为图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3.1 用例图（Use Case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 b="1"/>
              <a:t>参与者</a:t>
            </a:r>
            <a:r>
              <a:rPr/>
              <a:t>：外部交互者</a:t>
            </a:r>
          </a:p>
          <a:p>
            <a:pPr lvl="0"/>
            <a:r>
              <a:rPr b="1"/>
              <a:t>用例</a:t>
            </a:r>
            <a:r>
              <a:rPr/>
              <a:t>：系统功能</a:t>
            </a:r>
          </a:p>
          <a:p>
            <a:pPr lvl="0"/>
            <a:r>
              <a:rPr b="1"/>
              <a:t>系统边界</a:t>
            </a:r>
            <a:r>
              <a:rPr/>
              <a:t>：系统范围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包含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  <a:r>
                        <a:rPr/>
                        <a:t> (&lt;&gt;)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扩展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..&gt;</a:t>
                      </a:r>
                      <a:r>
                        <a:rPr/>
                        <a:t> (&lt;&gt;)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─▶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3.2 活动图（Activity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基本元素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活动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圆角矩形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菱形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并发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粗横线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3.3 状态图（State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  <a:p>
            <a:pPr lvl="0"/>
            <a:r>
              <a:rPr b="1"/>
              <a:t>状态</a:t>
            </a:r>
            <a:r>
              <a:rPr/>
              <a:t>：圆角矩形</a:t>
            </a:r>
          </a:p>
          <a:p>
            <a:pPr lvl="0"/>
            <a:r>
              <a:rPr b="1"/>
              <a:t>初始状态</a:t>
            </a:r>
            <a:r>
              <a:rPr/>
              <a:t>：●</a:t>
            </a:r>
          </a:p>
          <a:p>
            <a:pPr lvl="0"/>
            <a:r>
              <a:rPr b="1"/>
              <a:t>终止状态</a:t>
            </a:r>
            <a:r>
              <a:rPr/>
              <a:t>：◎</a:t>
            </a:r>
          </a:p>
          <a:p>
            <a:pPr lvl="0"/>
            <a:r>
              <a:rPr b="1"/>
              <a:t>转换</a:t>
            </a:r>
            <a:r>
              <a:rPr/>
              <a:t>：箭头 + 事件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事务状态示例</a:t>
            </a:r>
          </a:p>
          <a:p>
            <a:pPr lvl="0" indent="0">
              <a:buNone/>
            </a:pPr>
            <a:r>
              <a:rPr>
                <a:latin typeface="Courier"/>
              </a:rPr>
              <a:t>[空闲] ──BEGIN──▶ [活跃]
[活跃] ──COMMIT──▶ [已提交]
[活跃] ──ROLLBACK──▶ [已回滚]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4: 交互图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 顺序图（Sequence Diagram）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元素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生命线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垂直虚线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激活条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细长矩形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消息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箭头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消息类型</a:t>
            </a:r>
          </a:p>
          <a:p>
            <a:pPr lvl="0" indent="0">
              <a:buNone/>
            </a:pPr>
            <a:r>
              <a:rPr>
                <a:latin typeface="Courier"/>
              </a:rPr>
              <a:t>→   同步消息
─&gt;&gt;  异步消息
←   返回消息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4.2 通信图（Communication Diagram）</a:t>
            </a:r>
          </a:p>
          <a:p>
            <a:pPr lvl="0"/>
            <a:r>
              <a:rPr/>
              <a:t>展示对象之间的关系</a:t>
            </a:r>
          </a:p>
          <a:p>
            <a:pPr lvl="0"/>
            <a:r>
              <a:rPr/>
              <a:t>消息编号表示顺序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5: AI辅助UML实践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5.1 提示词技巧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有效提示词</a:t>
            </a:r>
          </a:p>
          <a:p>
            <a:pPr lvl="0" indent="0">
              <a:buNone/>
            </a:pPr>
            <a:r>
              <a:rPr>
                <a:latin typeface="Courier"/>
              </a:rPr>
              <a:t>请用PlantUML生成[图类型]，描述[场景]。
参与者：[...]
步骤：[...]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>
                <a:latin typeface="Courier"/>
              </a:rPr>
              <a:t>请为SQL查询生成顺序图：
参与者：Client、Parser、Executor、Storage
1. Client发送SQL
2. Parser解析
3. Executor执行
4. Storage返回结果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5.2 工具推荐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Mermaid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简洁Markdown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PlantUML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完整UML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Graphviz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图形可视化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Draw.io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图形编辑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核心要点</a:t>
            </a:r>
          </a:p>
          <a:p>
            <a:pPr lvl="0" indent="-342900" marL="342900">
              <a:buAutoNum type="arabicPeriod"/>
            </a:pPr>
            <a:r>
              <a:rPr b="1"/>
              <a:t>UML分类</a:t>
            </a:r>
            <a:r>
              <a:rPr/>
              <a:t>：结构图、行为图、交互图</a:t>
            </a:r>
          </a:p>
          <a:p>
            <a:pPr lvl="0" indent="-342900" marL="342900">
              <a:buAutoNum type="arabicPeriod"/>
            </a:pPr>
            <a:r>
              <a:rPr b="1"/>
              <a:t>类图</a:t>
            </a:r>
            <a:r>
              <a:rPr/>
              <a:t>：类、属性、方法、关系</a:t>
            </a:r>
          </a:p>
          <a:p>
            <a:pPr lvl="0" indent="-342900" marL="342900">
              <a:buAutoNum type="arabicPeriod"/>
            </a:pPr>
            <a:r>
              <a:rPr b="1"/>
              <a:t>行为图</a:t>
            </a:r>
            <a:r>
              <a:rPr/>
              <a:t>：用例、活动、状态</a:t>
            </a:r>
          </a:p>
          <a:p>
            <a:pPr lvl="0" indent="-342900" marL="342900">
              <a:buAutoNum type="arabicPeriod"/>
            </a:pPr>
            <a:r>
              <a:rPr b="1"/>
              <a:t>交互图</a:t>
            </a:r>
            <a:r>
              <a:rPr/>
              <a:t>：顺序、通信</a:t>
            </a:r>
          </a:p>
          <a:p>
            <a:pPr lvl="0" indent="-342900" marL="342900">
              <a:buAutoNum type="arabicPeriod"/>
            </a:pPr>
            <a:r>
              <a:rPr b="1"/>
              <a:t>AI辅助</a:t>
            </a:r>
            <a:r>
              <a:rPr/>
              <a:t>：提示词工程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下节预告</a:t>
            </a:r>
          </a:p>
          <a:p>
            <a:pPr lvl="0"/>
            <a:r>
              <a:rPr/>
              <a:t>第五讲：架构设计原理</a:t>
            </a:r>
          </a:p>
          <a:p>
            <a:pPr lvl="0"/>
            <a:r>
              <a:rPr/>
              <a:t>实践：完整系统建模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2026-03-15T08:33:36Z</dcterms:created>
  <dcterms:modified xsi:type="dcterms:W3CDTF">2026-03-15T08:33:36Z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
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第三讲：面向对象的分析设计与实现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AI增强的软件工程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课程大纲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面向对象核心概念（15分钟）</a:t>
            </a:r>
          </a:p>
          <a:p>
            <a:pPr lvl="0" indent="-342900" marL="342900">
              <a:buAutoNum type="arabicPeriod"/>
            </a:pPr>
            <a:r>
              <a:rPr/>
              <a:t>面向对象分析（OOA）原理（20分钟）</a:t>
            </a:r>
          </a:p>
          <a:p>
            <a:pPr lvl="0" indent="-342900" marL="342900">
              <a:buAutoNum type="arabicPeriod"/>
            </a:pPr>
            <a:r>
              <a:rPr/>
              <a:t>面向对象设计（OOD）原理（20分钟）</a:t>
            </a:r>
          </a:p>
          <a:p>
            <a:pPr lvl="0" indent="-342900" marL="342900">
              <a:buAutoNum type="arabicPeriod"/>
            </a:pPr>
            <a:r>
              <a:rPr/>
              <a:t>SOLID设计原则（15分钟）</a:t>
            </a:r>
          </a:p>
          <a:p>
            <a:pPr lvl="0" indent="-342900" marL="342900">
              <a:buAutoNum type="arabicPeriod"/>
            </a:pPr>
            <a:r>
              <a:rPr/>
              <a:t>类图与AI辅助设计（20分钟）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1: 面向对象核心概念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1.1 为什么需要面向对象？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软件开发的本质挑战</a:t>
            </a:r>
          </a:p>
          <a:p>
            <a:pPr lvl="0"/>
            <a:r>
              <a:rPr b="1"/>
              <a:t>复杂性</a:t>
            </a:r>
            <a:r>
              <a:rPr/>
              <a:t>：现代软件系统包含数百万行代码</a:t>
            </a:r>
          </a:p>
          <a:p>
            <a:pPr lvl="0"/>
            <a:r>
              <a:rPr b="1"/>
              <a:t>变化性</a:t>
            </a:r>
            <a:r>
              <a:rPr/>
              <a:t>：需求不断变化，系统需要易于修改</a:t>
            </a:r>
          </a:p>
          <a:p>
            <a:pPr lvl="0"/>
            <a:r>
              <a:rPr b="1"/>
              <a:t>协作性</a:t>
            </a:r>
            <a:r>
              <a:rPr/>
              <a:t>：多团队并行开发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面向对象的解决方案</a:t>
            </a:r>
          </a:p>
          <a:p>
            <a:pPr lvl="0"/>
            <a:r>
              <a:rPr b="1"/>
              <a:t>封装</a:t>
            </a:r>
            <a:r>
              <a:rPr/>
              <a:t>：隐藏实现细节，降低认知负荷</a:t>
            </a:r>
          </a:p>
          <a:p>
            <a:pPr lvl="0"/>
            <a:r>
              <a:rPr b="1"/>
              <a:t>继承</a:t>
            </a:r>
            <a:r>
              <a:rPr/>
              <a:t>：复用共性，建立层次结构</a:t>
            </a:r>
          </a:p>
          <a:p>
            <a:pPr lvl="0"/>
            <a:r>
              <a:rPr b="1"/>
              <a:t>多态</a:t>
            </a:r>
            <a:r>
              <a:rPr/>
              <a:t>：统一接口，支持多种实现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1.2 核心概念原理解读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封装（Encapsulation）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
│      对象        │
│  ┌───────────┐  │
│  │  内部状态  │  │  → 数据隐藏
│  └───────────┘  │
│       ↑          │
│  ┌───────────┐  │
│  │  公开接口  │  │  → 行为暴露
│  └───────────┘  │
└─────────────────┘</a:t>
            </a:r>
          </a:p>
          <a:p>
            <a:pPr lvl="0" indent="0" marL="0">
              <a:buNone/>
            </a:pPr>
            <a:r>
              <a:rPr b="1"/>
              <a:t>原理</a:t>
            </a:r>
            <a:r>
              <a:rPr/>
              <a:t>：将数据和操作数据的方法捆绑，对外隐藏实现细节。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继承（Inheritance）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┌─────────┐
│  动物   │  ← 抽象基类
└─────────┘
    ↑ ↑
┌─────┘ └─────┐
┌─────────┐ ┌─────────┐
│   狗    │ │   猫    │  ← 派生类
└─────────┘ └─────────┘</a:t>
            </a:r>
          </a:p>
          <a:p>
            <a:pPr lvl="0" indent="0" marL="0">
              <a:buNone/>
            </a:pPr>
            <a:r>
              <a:rPr b="1"/>
              <a:t>原理</a:t>
            </a:r>
            <a:r>
              <a:rPr/>
              <a:t>：通过”is-a”关系，子类自动获得父类的属性和方法。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多态（Polymorphism）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Drawable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draw(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Circle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radius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Drawable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Circle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draw(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画圆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统一接口，不同行为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render(shape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dyn</a:t>
            </a:r>
            <a:r>
              <a:rPr>
                <a:latin typeface="Courier"/>
              </a:rPr>
              <a:t> Drawable)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shape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draw()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运行时决定具体实现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原理</a:t>
            </a:r>
            <a:r>
              <a:rPr/>
              <a:t>：同一接口在不同对象上有不同实现。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2: 面向对象分析（OOA）原理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2.1 OOA的目标：理解问题域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核心问题</a:t>
            </a:r>
          </a:p>
          <a:p>
            <a:pPr lvl="0"/>
            <a:r>
              <a:rPr/>
              <a:t>系统要处理哪些概念？</a:t>
            </a:r>
          </a:p>
          <a:p>
            <a:pPr lvl="0"/>
            <a:r>
              <a:rPr/>
              <a:t>概念之间有什么关系？</a:t>
            </a:r>
          </a:p>
          <a:p>
            <a:pPr lvl="0"/>
            <a:r>
              <a:rPr/>
              <a:t>概念有哪些行为？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分析方法</a:t>
            </a:r>
          </a:p>
          <a:p>
            <a:pPr lvl="0"/>
            <a:r>
              <a:rPr b="1"/>
              <a:t>名词短语分析</a:t>
            </a:r>
            <a:r>
              <a:rPr/>
              <a:t>：从需求中提取名词，识别候选对象</a:t>
            </a:r>
          </a:p>
          <a:p>
            <a:pPr lvl="0"/>
            <a:r>
              <a:rPr b="1"/>
              <a:t>分类</a:t>
            </a:r>
            <a:r>
              <a:rPr/>
              <a:t>：区分实体对象、边界对象、控制对象</a:t>
            </a:r>
          </a:p>
          <a:p>
            <a:pPr lvl="0"/>
            <a:r>
              <a:rPr b="1"/>
              <a:t>抽象</a:t>
            </a:r>
            <a:r>
              <a:rPr/>
              <a:t>：忽略细节，保留本质特征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2.2 对象发现方法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名词短语分析法示例</a:t>
            </a:r>
          </a:p>
          <a:p>
            <a:pPr lvl="0" indent="0" marL="0">
              <a:buNone/>
            </a:pPr>
            <a:r>
              <a:rPr b="1"/>
              <a:t>需求描述</a:t>
            </a:r>
            <a:r>
              <a:rPr/>
              <a:t>：用户可以通过客户端提交SQL查询，系统解析查询后，从存储引擎中读取数据，并将结果返回给用户。</a:t>
            </a:r>
          </a:p>
          <a:p>
            <a:pPr lvl="0" indent="0" marL="0">
              <a:buNone/>
            </a:pPr>
            <a:r>
              <a:rPr b="1"/>
              <a:t>筛选核心对象</a:t>
            </a:r>
            <a:r>
              <a:rPr/>
              <a:t>：SQLQuery、Parser、StorageEngine、Result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2.3 识别对象之间的关系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关系类型</a:t>
            </a:r>
          </a:p>
          <a:p>
            <a:pPr lvl="0"/>
            <a:r>
              <a:rPr b="1"/>
              <a:t>关联</a:t>
            </a:r>
            <a:r>
              <a:rPr/>
              <a:t>：对象之间存在某种联系</a:t>
            </a:r>
          </a:p>
          <a:p>
            <a:pPr lvl="0"/>
            <a:r>
              <a:rPr b="1"/>
              <a:t>聚合</a:t>
            </a:r>
            <a:r>
              <a:rPr/>
              <a:t>：整体包含部分，部分可独立存在</a:t>
            </a:r>
          </a:p>
          <a:p>
            <a:pPr lvl="0"/>
            <a:r>
              <a:rPr b="1"/>
              <a:t>组合</a:t>
            </a:r>
            <a:r>
              <a:rPr/>
              <a:t>：整体包含部分，部分不能独立存在</a:t>
            </a:r>
          </a:p>
          <a:p>
            <a:pPr lvl="0"/>
            <a:r>
              <a:rPr b="1"/>
              <a:t>泛化</a:t>
            </a:r>
            <a:r>
              <a:rPr/>
              <a:t>：一般与特殊的关系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2.4 OOA的产出：概念模型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示例：SQLRustGo概念模型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┌──────────┐     ┌──────────┐
│   用户   │────&gt;│  SQL查询  │
└──────────┘     └──────────┘
                      │
                      ▼
                ┌──────────┐
                │  解析器  │
                └──────────┘
                      │
                      ▼
┌──────────┐     ┌──────────┐
│ 存储引擎 │&lt;────│ 执行引擎 │
└──────────┘     └──────────┘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3: 面向对象设计（OOD）原理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3.1 OOD的目标：构建解决方案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核心任务</a:t>
            </a:r>
          </a:p>
          <a:p>
            <a:pPr lvl="0"/>
            <a:r>
              <a:rPr/>
              <a:t>将分析模型转化为设计模型</a:t>
            </a:r>
          </a:p>
          <a:p>
            <a:pPr lvl="0"/>
            <a:r>
              <a:rPr/>
              <a:t>定义类（属性、方法、可见性）</a:t>
            </a:r>
          </a:p>
          <a:p>
            <a:pPr lvl="0"/>
            <a:r>
              <a:rPr/>
              <a:t>设计关系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3.2 设计原则（SOLID）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原则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单一职责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一个类只有一个变化原因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开闭原则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对扩展开放，对修改关闭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里氏替换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子类必须能替换父类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接口隔离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接口要小而专一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依赖倒置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依赖抽象，不依赖具体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3.3 设计原则应用示例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单一职责（SRP）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违反：Parser既做词法分析又做语法分析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Parser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input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pos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usize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tokens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Vec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Token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符合：拆分为Lexer和Parser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Lexer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input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pos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usize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Parser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lexer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Lexer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开闭原则（OCP）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StorageEngine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read(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MemoryStorage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HashMap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DiskStorage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path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PathBuf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可以任意扩展新存储引擎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依赖倒置（DIP）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Executor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StorageEngine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storage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依赖抽象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4: 类图设计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4.1 设计类图包含</a:t>
            </a:r>
          </a:p>
          <a:p>
            <a:pPr lvl="0"/>
            <a:r>
              <a:rPr/>
              <a:t>类名、属性（含类型、可见性）</a:t>
            </a:r>
          </a:p>
          <a:p>
            <a:pPr lvl="0"/>
            <a:r>
              <a:rPr/>
              <a:t>方法（含参数、返回类型）</a:t>
            </a:r>
          </a:p>
          <a:p>
            <a:pPr lvl="0"/>
            <a:r>
              <a:rPr/>
              <a:t>关系（继承、实现、关联）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4.2 示例：SQLRustGo设计类图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      ┌─────────────────┐
│    Parser       │      │     Lexer       │
├─────────────────┤      ├─────────────────┤
│ -lexer: Lexer   │────&gt;│ -input: String  │
├─────────────────┤      │ -pos: usize     │
│ +parse(): AST   │      ├─────────────────┤
└─────────────────┘      │ +next_token()   │
       │                 └─────────────────┘
       │ 使用
       ▼
┌─────────────────┐
│      AST        │（抽象）
├─────────────────┤
│ +execute(): ... │
└─────────────────┘
       ▲
       │ 继承
┌─────────────────┐
│ SelectStatement │
├─────────────────┤
│ -columns: Vec   │
│ -table: String  │
└─────────────────┘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5: AI辅助设计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5.1 AI生成类图</a:t>
            </a:r>
          </a:p>
          <a:p>
            <a:pPr lvl="0" indent="0">
              <a:buNone/>
            </a:pPr>
            <a:r>
              <a:rPr>
                <a:latin typeface="Courier"/>
              </a:rPr>
              <a:t>classDiagram
    class StorageEngine {
        &lt;&lt;trait&gt;&gt;
        +read(key: &amp;str) Option~Value~
        +write(key: &amp;str, value: Value) Result~()~
    }
    class MemoryStorage {
        -data: HashMap~String, Value~
    }
    StorageEngine &lt;|.. MemoryStorage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5.2 练习任务</a:t>
            </a:r>
          </a:p>
          <a:p>
            <a:pPr lvl="0" indent="-342900" marL="342900">
              <a:buAutoNum type="arabicPeriod"/>
            </a:pPr>
            <a:r>
              <a:rPr/>
              <a:t>分析需求文档</a:t>
            </a:r>
          </a:p>
          <a:p>
            <a:pPr lvl="0" indent="-342900" marL="342900">
              <a:buAutoNum type="arabicPeriod"/>
            </a:pPr>
            <a:r>
              <a:rPr/>
              <a:t>识别核心对象</a:t>
            </a:r>
          </a:p>
          <a:p>
            <a:pPr lvl="0" indent="-342900" marL="342900">
              <a:buAutoNum type="arabicPeriod"/>
            </a:pPr>
            <a:r>
              <a:rPr/>
              <a:t>确定对象关系</a:t>
            </a:r>
          </a:p>
          <a:p>
            <a:pPr lvl="0" indent="-342900" marL="342900">
              <a:buAutoNum type="arabicPeriod"/>
            </a:pPr>
            <a:r>
              <a:rPr/>
              <a:t>绘制类图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核心要点</a:t>
            </a:r>
          </a:p>
          <a:p>
            <a:pPr lvl="0" indent="-342900" marL="342900">
              <a:buAutoNum type="arabicPeriod"/>
            </a:pPr>
            <a:r>
              <a:rPr b="1"/>
              <a:t>面向对象三要素</a:t>
            </a:r>
            <a:r>
              <a:rPr/>
              <a:t>：封装、继承、多态</a:t>
            </a:r>
          </a:p>
          <a:p>
            <a:pPr lvl="0" indent="-342900" marL="342900">
              <a:buAutoNum type="arabicPeriod"/>
            </a:pPr>
            <a:r>
              <a:rPr b="1"/>
              <a:t>OOA</a:t>
            </a:r>
            <a:r>
              <a:rPr/>
              <a:t>：从需求到概念模型</a:t>
            </a:r>
          </a:p>
          <a:p>
            <a:pPr lvl="0" indent="-342900" marL="342900">
              <a:buAutoNum type="arabicPeriod"/>
            </a:pPr>
            <a:r>
              <a:rPr b="1"/>
              <a:t>OOD</a:t>
            </a:r>
            <a:r>
              <a:rPr/>
              <a:t>：从概念到设计类图</a:t>
            </a:r>
          </a:p>
          <a:p>
            <a:pPr lvl="0" indent="-342900" marL="342900">
              <a:buAutoNum type="arabicPeriod"/>
            </a:pPr>
            <a:r>
              <a:rPr b="1"/>
              <a:t>SOLID原则</a:t>
            </a:r>
            <a:r>
              <a:rPr/>
              <a:t>：高质量类的设计指南</a:t>
            </a:r>
          </a:p>
          <a:p>
            <a:pPr lvl="0" indent="-342900" marL="342900">
              <a:buAutoNum type="arabicPeriod"/>
            </a:pPr>
            <a:r>
              <a:rPr b="1"/>
              <a:t>AI辅助</a:t>
            </a:r>
            <a:r>
              <a:rPr/>
              <a:t>：提升UML建模效率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下节预告</a:t>
            </a:r>
          </a:p>
          <a:p>
            <a:pPr lvl="0"/>
            <a:r>
              <a:rPr/>
              <a:t>第四讲：UML规范和图例</a:t>
            </a:r>
          </a:p>
          <a:p>
            <a:pPr lvl="0"/>
            <a:r>
              <a:rPr/>
              <a:t>实践：使用AI工具生成UML图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谢谢！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2026-03-15T08:33:18Z</dcterms:created>
  <dcterms:modified xsi:type="dcterms:W3CDTF">2026-03-15T08:33:18Z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color">
    <vt:lpwstr/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theme">
    <vt:lpwstr>gaia</vt:lpwstr>
  </property>
</Properties>
</file>
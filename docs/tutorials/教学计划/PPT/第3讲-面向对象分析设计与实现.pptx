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第三讲：面向对象分析、设计与实现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从结构化到面向对象的方法演进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以高校图书借阅系统为例</a:t>
            </a:r>
          </a:p>
          <a:p>
            <a:pPr lvl="0" indent="0" marL="0">
              <a:buNone/>
            </a:pPr>
            <a:r>
              <a:rPr b="1"/>
              <a:t>80分钟 | 两节课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方法学演进：从结构化到面向对象（10分钟）</a:t>
            </a:r>
          </a:p>
          <a:p>
            <a:pPr lvl="0" indent="-342900" marL="342900">
              <a:buAutoNum type="arabicPeriod"/>
            </a:pPr>
            <a:r>
              <a:rPr/>
              <a:t>面向对象核心概念（15分钟）</a:t>
            </a:r>
          </a:p>
          <a:p>
            <a:pPr lvl="0" indent="-342900" marL="342900">
              <a:buAutoNum type="arabicPeriod"/>
            </a:pPr>
            <a:r>
              <a:rPr/>
              <a:t>面向对象分析（OOA）入门（15分钟）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从分析到设计的过渡（5分钟）</a:t>
            </a:r>
          </a:p>
          <a:p>
            <a:pPr lvl="0" indent="-342900" marL="342900">
              <a:buAutoNum startAt="4" type="arabicPeriod"/>
            </a:pPr>
            <a:r>
              <a:rPr/>
              <a:t>面向对象设计（OOD）方法（15分钟）</a:t>
            </a:r>
          </a:p>
          <a:p>
            <a:pPr lvl="0" indent="-342900" marL="342900">
              <a:buAutoNum startAt="4" type="arabicPeriod"/>
            </a:pPr>
            <a:r>
              <a:rPr/>
              <a:t>SOLID 设计原则（15分钟）</a:t>
            </a:r>
          </a:p>
          <a:p>
            <a:pPr lvl="0" indent="-342900" marL="342900">
              <a:buAutoNum startAt="4" type="arabicPeriod"/>
            </a:pPr>
            <a:r>
              <a:rPr/>
              <a:t>类图规范与实践（10分钟）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方法学演进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软件危机与结构化方法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1960s-1970s：软件危机</a:t>
            </a:r>
          </a:p>
          <a:p>
            <a:pPr lvl="0"/>
            <a:r>
              <a:rPr/>
              <a:t>软件规模爆炸，项目延期</a:t>
            </a:r>
          </a:p>
          <a:p>
            <a:pPr lvl="0"/>
            <a:r>
              <a:rPr/>
              <a:t>质量低劣，维护困难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结构化方法应运而生</a:t>
            </a:r>
          </a:p>
          <a:p>
            <a:pPr lvl="0"/>
            <a:r>
              <a:rPr b="1"/>
              <a:t>自顶向下、逐步求精</a:t>
            </a:r>
          </a:p>
          <a:p>
            <a:pPr lvl="0"/>
            <a:r>
              <a:rPr b="1"/>
              <a:t>三视图建模</a:t>
            </a:r>
            <a:r>
              <a:rPr/>
              <a:t>：</a:t>
            </a:r>
          </a:p>
          <a:p>
            <a:pPr lvl="1"/>
            <a:r>
              <a:rPr/>
              <a:t>功能建模：数据流图（DFD）</a:t>
            </a:r>
          </a:p>
          <a:p>
            <a:pPr lvl="1"/>
            <a:r>
              <a:rPr/>
              <a:t>数据建模：实体-关系图（ERD）</a:t>
            </a:r>
          </a:p>
          <a:p>
            <a:pPr lvl="1"/>
            <a:r>
              <a:rPr/>
              <a:t>行为建模：流程图、状态图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优点与缺陷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缺陷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适合中小规模系统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数据和操作分离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数据处理型系统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需求变化时脆弱难改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图形化界面催生面向对象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1980s：图形操作系统普及</a:t>
            </a:r>
          </a:p>
          <a:p>
            <a:pPr lvl="0"/>
            <a:r>
              <a:rPr/>
              <a:t>Macintosh, Windows</a:t>
            </a:r>
          </a:p>
          <a:p>
            <a:pPr lvl="0"/>
            <a:r>
              <a:rPr/>
              <a:t>窗口、按钮、菜单等界面元素涌现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面向对象的天然契合</a:t>
            </a:r>
          </a:p>
          <a:p>
            <a:pPr lvl="0"/>
            <a:r>
              <a:rPr/>
              <a:t>界面元素可建模为</a:t>
            </a:r>
            <a:r>
              <a:rPr b="1"/>
              <a:t>对象</a:t>
            </a:r>
          </a:p>
          <a:p>
            <a:pPr lvl="0"/>
            <a:r>
              <a:rPr/>
              <a:t>封装</a:t>
            </a:r>
            <a:r>
              <a:rPr b="1"/>
              <a:t>状态</a:t>
            </a:r>
            <a:r>
              <a:rPr/>
              <a:t>和</a:t>
            </a:r>
            <a:r>
              <a:rPr b="1"/>
              <a:t>行为</a:t>
            </a:r>
          </a:p>
          <a:p>
            <a:pPr lvl="0"/>
            <a:r>
              <a:rPr/>
              <a:t>对象间通过</a:t>
            </a:r>
            <a:r>
              <a:rPr b="1"/>
              <a:t>消息通信</a:t>
            </a:r>
          </a:p>
          <a:p>
            <a:pPr lvl="0"/>
            <a:r>
              <a:rPr b="1"/>
              <a:t>继承</a:t>
            </a:r>
            <a:r>
              <a:rPr/>
              <a:t>复用，</a:t>
            </a:r>
            <a:r>
              <a:rPr b="1"/>
              <a:t>多态</a:t>
            </a:r>
            <a:r>
              <a:rPr/>
              <a:t>灵活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面向对象发展简史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里程碑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1960s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Simula 引入”类”和”对象”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Smalltalk 第一个纯OO语言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C++ 将OO带入主流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统一建模语言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建模视角转变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900"/>
                <a:gridCol w="2260600"/>
                <a:gridCol w="26797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结构化方法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面向对象方法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转变本质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功能需求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数据流图（DFD）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“功能分解”→“用户场景”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实体-关系图（ERD）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“数据实体”→“封装行为的数据”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动态行为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流程图、状态图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顺序图、活动图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“过程流”→“对象间消息传递”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面向对象核心概念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为什么需要面向对象？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挑战与OO解决方案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挑战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OO解决方案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复杂性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封装隐藏细节，降低认知负担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变化性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继承和多态支持扩展，减少修改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协作性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对象职责清晰，接口明确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封装（Encapsulation）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将数据和操作捆绑在一起，对外隐藏实现细节。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Book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available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私有状态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Book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880000"/>
                </a:solidFill>
                <a:latin typeface="Courier"/>
              </a:rPr>
              <a:t>Ok</a:t>
            </a:r>
            <a:r>
              <a:rPr>
                <a:latin typeface="Courier"/>
              </a:rPr>
              <a:t>(())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880000"/>
                </a:solidFill>
                <a:latin typeface="Courier"/>
              </a:rPr>
              <a:t>Err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"图书已借出"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into())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is_available(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外界只能通过 borrow、return_book 修改状态，无法直接修改 available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继承（Inheritance）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通过”is-a”关系复用父类代码。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name(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student_id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max_books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teacher_id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department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Rust中通过 trait 实现多态，继承通过组合和 trait 替代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 多态（Polymorphism）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同一接口，不同实现。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print_user_info(user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dyn</a:t>
            </a:r>
            <a:r>
              <a:rPr>
                <a:latin typeface="Courier"/>
              </a:rPr>
              <a:t> User)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"ID: {}, 姓名: {}"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name())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can_borrow()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"可以借书"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无论是Student还是Teacher，都可传入print_user_info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3: 面向对象分析（OOA）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OOA 核心任务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理解问题域</a:t>
            </a:r>
            <a:r>
              <a:rPr/>
              <a:t>，建立概念模型</a:t>
            </a:r>
          </a:p>
          <a:p>
            <a:pPr lvl="0"/>
            <a:r>
              <a:rPr b="1"/>
              <a:t>识别对象、属性、行为、关系</a:t>
            </a:r>
          </a:p>
          <a:p>
            <a:pPr lvl="0"/>
            <a:r>
              <a:rPr b="1"/>
              <a:t>产出</a:t>
            </a:r>
            <a:r>
              <a:rPr/>
              <a:t>：用例图、概念类图、活动图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对象发现方法：名词短语分析法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步骤</a:t>
            </a:r>
          </a:p>
          <a:p>
            <a:pPr lvl="0" indent="-342900" marL="342900">
              <a:buAutoNum type="arabicPeriod"/>
            </a:pPr>
            <a:r>
              <a:rPr/>
              <a:t>从需求描述中提取所有</a:t>
            </a:r>
            <a:r>
              <a:rPr b="1"/>
              <a:t>名词</a:t>
            </a:r>
          </a:p>
          <a:p>
            <a:pPr lvl="0" indent="-342900" marL="342900">
              <a:buAutoNum type="arabicPeriod"/>
            </a:pPr>
            <a:r>
              <a:rPr/>
              <a:t>筛选核心业务实体</a:t>
            </a:r>
          </a:p>
          <a:p>
            <a:pPr lvl="0" indent="-342900" marL="342900">
              <a:buAutoNum type="arabicPeriod"/>
            </a:pPr>
            <a:r>
              <a:rPr/>
              <a:t>确定属性和行为</a:t>
            </a:r>
          </a:p>
          <a:p>
            <a:pPr lvl="0" indent="-342900" marL="342900">
              <a:buAutoNum type="arabicPeriod"/>
            </a:pPr>
            <a:r>
              <a:rPr/>
              <a:t>识别对象间关系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示例：图书借阅系统</a:t>
            </a:r>
          </a:p>
          <a:p>
            <a:pPr lvl="0" indent="0" marL="1270000">
              <a:buNone/>
            </a:pPr>
            <a:r>
              <a:rPr sz="2000"/>
              <a:t>学生和教师可以借阅图书。每本图书有ISBN、书名、作者、出版社。借阅时需登记借阅人、借阅日期、应还日期。图书管理员负责管理图书和借阅记录。系统需要记录借阅历史，并支持逾期罚款计算。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筛选核心对象</a:t>
            </a:r>
          </a:p>
          <a:p>
            <a:pPr lvl="0"/>
            <a:r>
              <a:rPr b="1"/>
              <a:t>用户</a:t>
            </a:r>
            <a:r>
              <a:rPr/>
              <a:t>（学生、教师 → 泛化）</a:t>
            </a:r>
          </a:p>
          <a:p>
            <a:pPr lvl="0"/>
            <a:r>
              <a:rPr b="1"/>
              <a:t>图书</a:t>
            </a:r>
          </a:p>
          <a:p>
            <a:pPr lvl="0"/>
            <a:r>
              <a:rPr b="1"/>
              <a:t>借阅记录</a:t>
            </a:r>
          </a:p>
          <a:p>
            <a:pPr lvl="0"/>
            <a:r>
              <a:rPr b="1"/>
              <a:t>图书管理员</a:t>
            </a:r>
          </a:p>
          <a:p>
            <a:pPr lvl="0"/>
            <a:r>
              <a:rPr b="1"/>
              <a:t>逾期罚款</a:t>
            </a:r>
            <a:r>
              <a:rPr/>
              <a:t>（值对象）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确定对象关系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被借阅于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可能产生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逾期罚款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课堂互动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小组讨论</a:t>
            </a:r>
          </a:p>
          <a:p>
            <a:pPr lvl="0" indent="0" marL="0">
              <a:buNone/>
            </a:pPr>
            <a:r>
              <a:rPr/>
              <a:t>从简化需求中提取对象并绘制简单关系图：</a:t>
            </a:r>
          </a:p>
          <a:p>
            <a:pPr lvl="0" indent="0" marL="1270000">
              <a:buNone/>
            </a:pPr>
            <a:r>
              <a:rPr sz="2000"/>
              <a:t>“图书馆允许学生借阅图书，每本书最多借30天。逾期每天罚款0.5元。管理员可以添加新书。”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课间休息（5分钟）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从分析到设计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OOA vs OOD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概念模型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解决方案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关注”做什么”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关注”怎么做”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考虑实现环境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映射关系</a:t>
            </a:r>
          </a:p>
          <a:p>
            <a:pPr lvl="0"/>
            <a:r>
              <a:rPr/>
              <a:t>分析类 → 设计类（细化属性和方法）</a:t>
            </a:r>
          </a:p>
          <a:p>
            <a:pPr lvl="0"/>
            <a:r>
              <a:rPr/>
              <a:t>关系 → 具体实现（引用、集合）</a:t>
            </a:r>
          </a:p>
          <a:p>
            <a:pPr lvl="0"/>
            <a:r>
              <a:rPr/>
              <a:t>引入接口、设计模式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示例：分析到设计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分析类"用户" → 设计类User（trait或抽象类）
分析关系"用户借阅图书" → User持有BorrowRecord列表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面向对象设计（OOD）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5.1 类的设计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user_type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borrow_records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Vec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BorrowRecord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borrow_records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len()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max_books()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Book)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借书逻辑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find(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save(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entity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InMemoryUserRepo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InMemoryUserRepo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6: SOLID 设计原则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 S - 单一职责（SRP）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一个类只应有一个引起它变化的原因。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错误：User类同时处理业务规则和持久化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save_to_db(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正确：分离职责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     </a:t>
            </a:r>
            <a:r>
              <a:rPr i="1">
                <a:solidFill>
                  <a:srgbClr val="60A0B0"/>
                </a:solidFill>
                <a:latin typeface="Courier"/>
              </a:rPr>
              <a:t>// 仅业务逻辑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仅持久化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O - 开闭原则（OCP）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对扩展开放，对修改关闭。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days_overdue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DefaultFineCalculator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FineCalculator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DefaultFineCalculator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days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HolidayFineCalculator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FineCalculator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HolidayFineCalculator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days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6.3 L - 里氏替换（LSP）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子类必须能够替换父类。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I - 接口隔离（ISP）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接口要小而专，避免胖接口。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胖接口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LibraryService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calculate_fine(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record_id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分离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BookManager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BorrowService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FineService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calculate_fine(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record_id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6.5 D - 依赖倒置（DIP）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依赖抽象，不依赖具体实现。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BorrowService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UserRepository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BookRepository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user_repo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book_repo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BorrowService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UserRepository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借书逻辑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7: 类图规范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 类图元素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
│      User       │
├─────────────────┤
│ - id: String    │
│ - name: String  │
├─────────────────┤
│ + can_borrow()  │
│ + borrow_book() │
└─────────────────┘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关系符号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实线三角箭头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 -▶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虚线三角箭头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───→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实线箭头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.──→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虚线箭头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◇──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空心菱形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◆──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实心菱形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 类图示例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classDiagram
    class User {
        &lt;&lt;abstract&gt;&gt;
        #id: String
        #name: String
        +borrow_limit(): u32
    }
    class Student {
        -student_id: String
    }
    class Teacher {
        -teacher_id: String
    }
    class Book {
        -isbn: String
        -available: bool
        +borrow()
    }
    class BorrowRecord {
        -borrowDate: Date
        +is_overdue(): bool
    }
    User &lt;|-- Student
    User &lt;|-- Teacher
    User "1" --&gt; "*" BorrowRecord
    Book "1" --&gt; "*" BorrowRecord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课堂小结（5分钟）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核心要点回顾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方法学演进</a:t>
            </a:r>
            <a:r>
              <a:rPr/>
              <a:t>：从结构化（数据+操作分离）到面向对象（封装+消息传递），图形界面是重要驱动力</a:t>
            </a:r>
          </a:p>
          <a:p>
            <a:pPr lvl="0" indent="-342900" marL="342900">
              <a:buAutoNum type="arabicPeriod"/>
            </a:pPr>
            <a:r>
              <a:rPr b="1"/>
              <a:t>OO三要素</a:t>
            </a:r>
            <a:r>
              <a:rPr/>
              <a:t>：封装、继承、多态</a:t>
            </a:r>
          </a:p>
          <a:p>
            <a:pPr lvl="0" indent="-342900" marL="342900">
              <a:buAutoNum type="arabicPeriod"/>
            </a:pPr>
            <a:r>
              <a:rPr b="1"/>
              <a:t>OOA → OOD → OOP</a:t>
            </a:r>
            <a:r>
              <a:rPr/>
              <a:t>：分析概念模型，设计实现方案，编码实现</a:t>
            </a:r>
          </a:p>
          <a:p>
            <a:pPr lvl="0" indent="-342900" marL="342900">
              <a:buAutoNum type="arabicPeriod"/>
            </a:pPr>
            <a:r>
              <a:rPr b="1"/>
              <a:t>SOLID原则</a:t>
            </a:r>
            <a:r>
              <a:rPr/>
              <a:t>：指导高质量设计</a:t>
            </a:r>
          </a:p>
          <a:p>
            <a:pPr lvl="0" indent="-342900" marL="342900">
              <a:buAutoNum type="arabicPeriod"/>
            </a:pPr>
            <a:r>
              <a:rPr b="1"/>
              <a:t>类图</a:t>
            </a:r>
            <a:r>
              <a:rPr/>
              <a:t>：描述系统静态结构的关键工具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下节预告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第四讲</a:t>
            </a:r>
            <a:r>
              <a:rPr/>
              <a:t>：UML规范与图例 —— 用例图、顺序图、活动图等，继续以图书借阅系统为例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2026-03-15T14:32:58Z</dcterms:created>
  <dcterms:modified xsi:type="dcterms:W3CDTF">2026-03-15T14:32:58Z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
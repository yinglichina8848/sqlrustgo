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第1</a:t>
            </a:r>
          </a:p>
          <a:p>
            <a:r>
              <a:t>软件工程概述与项目导论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AI增强的软件工程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AI增强的软件工程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---</a:t>
            </a:r>
          </a:p>
          <a:p>
            <a:pPr/>
            <a:r>
              <a:t># 课程大纲</a:t>
            </a:r>
          </a:p>
          <a:p>
            <a:pPr/>
            <a:r>
              <a:t>1. **软件工程发展历史**（25分钟）</a:t>
            </a:r>
          </a:p>
          <a:p>
            <a:pPr/>
            <a:r>
              <a:t>2. **Greenfield与Brownfield项目**（20分钟）</a:t>
            </a:r>
          </a:p>
          <a:p>
            <a:pPr/>
            <a:r>
              <a:t>3. **AI对软件工程的影响**（25分钟）</a:t>
            </a:r>
          </a:p>
          <a:p>
            <a:pPr/>
            <a:r>
              <a:t>4. **SQLRustGo项目导论**（20分钟）</a:t>
            </a:r>
          </a:p>
          <a:p>
            <a:pPr/>
            <a:r>
              <a:t>---</a:t>
            </a:r>
          </a:p>
          <a:p>
            <a:pPr/>
            <a:r>
              <a:t># Part 1: 软件工程发展历史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软件工程的诞生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1968年 NATO会议</a:t>
            </a:r>
          </a:p>
          <a:p>
            <a:pPr/>
            <a:r>
              <a:t>- **"软件危机"的提出**</a:t>
            </a:r>
          </a:p>
          <a:p>
            <a:pPr/>
            <a:r>
              <a:t>- 项目延期、预算超支、质量低下</a:t>
            </a:r>
          </a:p>
          <a:p>
            <a:pPr/>
            <a:r>
              <a:t>- 复杂度指数级增长</a:t>
            </a:r>
          </a:p>
          <a:p>
            <a:pPr/>
            <a:r>
              <a:t>- 缺乏系统化的方法</a:t>
            </a:r>
          </a:p>
          <a:p>
            <a:pPr/>
            <a:r>
              <a:t>### 从"编程"到"工程"的转变</a:t>
            </a:r>
          </a:p>
          <a:p>
            <a:pPr/>
            <a:r>
              <a:t>- **编程**：个人技能、艺术创作</a:t>
            </a:r>
          </a:p>
          <a:p>
            <a:pPr/>
            <a:r>
              <a:t>- **工程**：系统化、可度量、可重复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软件工程的发展阶段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1968-1980: 结构化编程时代</a:t>
            </a:r>
          </a:p>
          <a:p>
            <a:pPr/>
            <a:r>
              <a:t>- **Dijkstra的"goto有害论"**（1968）</a:t>
            </a:r>
          </a:p>
          <a:p>
            <a:pPr/>
            <a:r>
              <a:t>- **结构化分析设计方法**</a:t>
            </a:r>
          </a:p>
          <a:p>
            <a:pPr/>
            <a:r>
              <a:t>- 数据流图（DFD）</a:t>
            </a:r>
          </a:p>
          <a:p>
            <a:pPr/>
            <a:r>
              <a:t>- 结构图</a:t>
            </a:r>
          </a:p>
          <a:p>
            <a:pPr/>
            <a:r>
              <a:t>- **瀑布模型的建立**</a:t>
            </a:r>
          </a:p>
          <a:p>
            <a:pPr/>
            <a:r>
              <a:t>### 1980-2000: 面向对象时代</a:t>
            </a:r>
          </a:p>
          <a:p>
            <a:pPr/>
            <a:r>
              <a:t>- **Smalltalk、C++、Java的兴起**</a:t>
            </a:r>
          </a:p>
          <a:p>
            <a:pPr/>
            <a:r>
              <a:t>- **UML统一建模语言**</a:t>
            </a:r>
          </a:p>
          <a:p>
            <a:pPr/>
            <a:r>
              <a:t>- **设计模式运动**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软件工程的发展阶段（续）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2000-2020: 敏捷与DevOps时代</a:t>
            </a:r>
          </a:p>
          <a:p>
            <a:pPr/>
            <a:r>
              <a:t>- **敏捷宣言**（2001）</a:t>
            </a:r>
          </a:p>
          <a:p>
            <a:pPr/>
            <a:r>
              <a:t>- 个体和互动 &gt; 流程和工具</a:t>
            </a:r>
          </a:p>
          <a:p>
            <a:pPr/>
            <a:r>
              <a:t>- 可工作的软件 &gt; 详尽的文档</a:t>
            </a:r>
          </a:p>
          <a:p>
            <a:pPr/>
            <a:r>
              <a:t>- 客户合作 &gt; 合同谈判</a:t>
            </a:r>
          </a:p>
          <a:p>
            <a:pPr/>
            <a:r>
              <a:t>- 响应变化 &gt; 遵循计划</a:t>
            </a:r>
          </a:p>
          <a:p>
            <a:pPr/>
            <a:r>
              <a:t>- **Scrum、Kanban等方法论**</a:t>
            </a:r>
          </a:p>
          <a:p>
            <a:pPr/>
            <a:r>
              <a:t>- **CI/CD、DevOps实践**</a:t>
            </a:r>
          </a:p>
          <a:p>
            <a:pPr/>
            <a:r>
              <a:t>### 2020-现在: AI增强时代</a:t>
            </a:r>
          </a:p>
          <a:p>
            <a:pPr/>
            <a:r>
              <a:t>- **GitHub Copilot**（2021）</a:t>
            </a:r>
          </a:p>
          <a:p>
            <a:pPr/>
            <a:r>
              <a:t>- **ChatGPT**（2022）</a:t>
            </a:r>
          </a:p>
          <a:p>
            <a:pPr/>
            <a:r>
              <a:t>- **Claude Code、Cursor等AI-IDE**（2024-2025）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软件工程的适用领域与成就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适用领域</a:t>
            </a:r>
          </a:p>
          <a:p>
            <a:pPr/>
            <a:r>
              <a:t>- **企业级应用**：ERP、CRM、银行系统</a:t>
            </a:r>
          </a:p>
          <a:p>
            <a:pPr/>
            <a:r>
              <a:t>- **互联网服务**：电商、社交、搜索</a:t>
            </a:r>
          </a:p>
          <a:p>
            <a:pPr/>
            <a:r>
              <a:t>- **嵌入式系统**：汽车、医疗设备</a:t>
            </a:r>
          </a:p>
          <a:p>
            <a:pPr/>
            <a:r>
              <a:t>- **科学计算与数据分析**</a:t>
            </a:r>
          </a:p>
          <a:p>
            <a:pPr/>
            <a:r>
              <a:t>### 重大成就</a:t>
            </a:r>
          </a:p>
          <a:p>
            <a:pPr/>
            <a:r>
              <a:t>- **大型系统成功案例**：Linux、Chrome、TensorFlow</a:t>
            </a:r>
          </a:p>
          <a:p>
            <a:pPr/>
            <a:r>
              <a:t>- **软件质量的大幅提升**</a:t>
            </a:r>
          </a:p>
          <a:p>
            <a:pPr/>
            <a:r>
              <a:t>- **开发效率的指数级增长**</a:t>
            </a:r>
          </a:p>
          <a:p>
            <a:pPr/>
            <a:r>
              <a:t>- **开源生态的繁荣**</a:t>
            </a:r>
          </a:p>
          <a:p>
            <a:pPr/>
            <a:r>
              <a:t>---</a:t>
            </a:r>
          </a:p>
          <a:p>
            <a:pPr/>
            <a:r>
              <a:t># Part 2: Greenfield与Brownfield项目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 Greenfield（绿地项目）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定义</a:t>
            </a:r>
          </a:p>
          <a:p>
            <a:pPr/>
            <a:r>
              <a:t>从零开始构建的新项目</a:t>
            </a:r>
          </a:p>
          <a:p>
            <a:pPr/>
            <a:r>
              <a:t>### 特点</a:t>
            </a:r>
          </a:p>
          <a:p>
            <a:pPr/>
            <a:r>
              <a:t>- ✅ **无历史包袱**，技术选型自由</a:t>
            </a:r>
          </a:p>
          <a:p>
            <a:pPr/>
            <a:r>
              <a:t>- ✅ **需求明确时效率极高**</a:t>
            </a:r>
          </a:p>
          <a:p>
            <a:pPr/>
            <a:r>
              <a:t>- ✅ **适合新技术探索和验证**</a:t>
            </a:r>
          </a:p>
          <a:p>
            <a:pPr/>
            <a:r>
              <a:t>### 典型案例</a:t>
            </a:r>
          </a:p>
          <a:p>
            <a:pPr/>
            <a:r>
              <a:t>- 新创公司的MVP产品</a:t>
            </a:r>
          </a:p>
          <a:p>
            <a:pPr/>
            <a:r>
              <a:t>- 新技术验证项目</a:t>
            </a:r>
          </a:p>
          <a:p>
            <a:pPr/>
            <a:r>
              <a:t>- **SQLRustGo项目（本课程案例）**</a:t>
            </a:r>
          </a:p>
          <a:p>
            <a:pPr/>
            <a:r>
              <a:t>### 代码规模</a:t>
            </a:r>
          </a:p>
          <a:p>
            <a:pPr/>
            <a:r>
              <a:t>通常 **1K-50K 行代码**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 Brownfield（棕地项目）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定义</a:t>
            </a:r>
          </a:p>
          <a:p>
            <a:pPr/>
            <a:r>
              <a:t>在现有系统上修改和扩展</a:t>
            </a:r>
          </a:p>
          <a:p>
            <a:pPr/>
            <a:r>
              <a:t>### 特点</a:t>
            </a:r>
          </a:p>
          <a:p>
            <a:pPr/>
            <a:r>
              <a:t>- ⚠️ **需要理解遗留代码**</a:t>
            </a:r>
          </a:p>
          <a:p>
            <a:pPr/>
            <a:r>
              <a:t>- ⚠️ **技术债务处理**</a:t>
            </a:r>
          </a:p>
          <a:p>
            <a:pPr/>
            <a:r>
              <a:t>- ⚠️ **渐进式重构和迁移**</a:t>
            </a:r>
          </a:p>
          <a:p>
            <a:pPr/>
            <a:r>
              <a:t>### 典型案例</a:t>
            </a:r>
          </a:p>
          <a:p>
            <a:pPr/>
            <a:r>
              <a:t>- 银行核心系统升级</a:t>
            </a:r>
          </a:p>
          <a:p>
            <a:pPr/>
            <a:r>
              <a:t>- 大型互联网平台迭代</a:t>
            </a:r>
          </a:p>
          <a:p>
            <a:pPr/>
            <a:r>
              <a:t>- 遗留系统现代化</a:t>
            </a:r>
          </a:p>
          <a:p>
            <a:pPr/>
            <a:r>
              <a:t>### 代码规模</a:t>
            </a:r>
          </a:p>
          <a:p>
            <a:pPr/>
            <a:r>
              <a:t>通常 **100K-10M+ 行代码**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 项目类型对比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| 维度 | Greenfield | Brownfield |</a:t>
            </a:r>
          </a:p>
          <a:p>
            <a:pPr/>
            <a:r>
              <a:t>|------|-----------|------------|</a:t>
            </a:r>
          </a:p>
          <a:p>
            <a:pPr/>
            <a:r>
              <a:t>| 起点 | 空白 | 现有代码库 |</a:t>
            </a:r>
          </a:p>
          <a:p>
            <a:pPr/>
            <a:r>
              <a:t>| 技术选型 | 完全自由 | 受限于现有架构 |</a:t>
            </a:r>
          </a:p>
          <a:p>
            <a:pPr/>
            <a:r>
              <a:t>| 认知负荷 | 较低 | 较高 |</a:t>
            </a:r>
          </a:p>
          <a:p>
            <a:pPr/>
            <a:r>
              <a:t>| 风险类型 | 需求风险 | 集成风险 |</a:t>
            </a:r>
          </a:p>
          <a:p>
            <a:pPr/>
            <a:r>
              <a:t>| AI辅助效果 | 显著 | 需要更多上下文 |</a:t>
            </a:r>
          </a:p>
          <a:p>
            <a:pPr/>
            <a:r>
              <a:t>---</a:t>
            </a:r>
          </a:p>
          <a:p>
            <a:pPr/>
            <a:r>
              <a:t># Part 3: AI对软件工程的影响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大语言模型（LLM）的突破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技术里程碑</a:t>
            </a:r>
          </a:p>
          <a:p>
            <a:pPr/>
            <a:r>
              <a:t>- **GPT-3**（2020）：代码生成能力初现</a:t>
            </a:r>
          </a:p>
          <a:p>
            <a:pPr/>
            <a:r>
              <a:t>- **Codex**（2021）：专门优化的代码模型</a:t>
            </a:r>
          </a:p>
          <a:p>
            <a:pPr/>
            <a:r>
              <a:t>- **GPT-4**（2023）：复杂推理能力</a:t>
            </a:r>
          </a:p>
          <a:p>
            <a:pPr/>
            <a:r>
              <a:t>- **Claude 3.5/4**（2024-2025）：长上下文、深度推理</a:t>
            </a:r>
          </a:p>
          <a:p>
            <a:pPr/>
            <a:r>
              <a:t>### 核心能力</a:t>
            </a:r>
          </a:p>
          <a:p>
            <a:pPr/>
            <a:r>
              <a:t>- 代码生成与补全</a:t>
            </a:r>
          </a:p>
          <a:p>
            <a:pPr/>
            <a:r>
              <a:t>- 代码解释与分析</a:t>
            </a:r>
          </a:p>
          <a:p>
            <a:pPr/>
            <a:r>
              <a:t>- 自然语言编程</a:t>
            </a:r>
          </a:p>
          <a:p>
            <a:pPr/>
            <a:r>
              <a:t>- 文档生成与翻译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AI-IDE工具演进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第一代：代码补全</a:t>
            </a:r>
          </a:p>
          <a:p>
            <a:pPr/>
            <a:r>
              <a:t>- **TabNine、Kite**（2019-2020）</a:t>
            </a:r>
          </a:p>
          <a:p>
            <a:pPr/>
            <a:r>
              <a:t>- 基于统计的补全</a:t>
            </a:r>
          </a:p>
          <a:p>
            <a:pPr/>
            <a:r>
              <a:t>### 第二代：AI辅助</a:t>
            </a:r>
          </a:p>
          <a:p>
            <a:pPr/>
            <a:r>
              <a:t>- **GitHub Copilot**（2021）</a:t>
            </a:r>
          </a:p>
          <a:p>
            <a:pPr/>
            <a:r>
              <a:t>- 实时代码建议</a:t>
            </a:r>
          </a:p>
          <a:p>
            <a:pPr/>
            <a:r>
              <a:t>### 第三代：AI原生IDE</a:t>
            </a:r>
          </a:p>
          <a:p>
            <a:pPr/>
            <a:r>
              <a:t>- **Cursor**（2023）</a:t>
            </a:r>
          </a:p>
          <a:p>
            <a:pPr/>
            <a:r>
              <a:t>- **TRAE IDE**（2024）</a:t>
            </a:r>
          </a:p>
          <a:p>
            <a:pPr/>
            <a:r>
              <a:t>- 全项目上下文理解</a:t>
            </a:r>
          </a:p>
          <a:p>
            <a:pPr/>
            <a:r>
              <a:t>### 第四代：自主Agent</a:t>
            </a:r>
          </a:p>
          <a:p>
            <a:pPr/>
            <a:r>
              <a:t>- **Claude Code**（2024）</a:t>
            </a:r>
          </a:p>
          <a:p>
            <a:pPr/>
            <a:r>
              <a:t>- 自主规划、执行、调试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 AI Coding的局限性与适用范围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上下文窗口限制</a:t>
            </a:r>
          </a:p>
          <a:p>
            <a:pPr/>
            <a:r>
              <a:t>- **Claude**: 200K tokens（约15万行代码）</a:t>
            </a:r>
          </a:p>
          <a:p>
            <a:pPr/>
            <a:r>
              <a:t>- **实际有效范围**: 20-40%容量后性能下降</a:t>
            </a:r>
          </a:p>
          <a:p>
            <a:pPr/>
            <a:r>
              <a:t>### AI增强SE适合的项目规模</a:t>
            </a:r>
          </a:p>
          <a:p>
            <a:pPr/>
            <a:r>
              <a:t>| 规模 | 代码行数 | AI辅助效果 |</a:t>
            </a:r>
          </a:p>
          <a:p>
            <a:pPr/>
            <a:r>
              <a:t>|------|---------|-----------|</a:t>
            </a:r>
          </a:p>
          <a:p>
            <a:pPr/>
            <a:r>
              <a:t>| 小型 | &lt;10K | ★★★★★ 全AI辅助开发 |</a:t>
            </a:r>
          </a:p>
          <a:p>
            <a:pPr/>
            <a:r>
              <a:t>| 中型 | 10K-50K | ★★★★☆ AI+人工审查 |</a:t>
            </a:r>
          </a:p>
          <a:p>
            <a:pPr/>
            <a:r>
              <a:t>| 大型 | 50K-200K | ★★★☆☆ 模块级AI辅助 |</a:t>
            </a:r>
          </a:p>
          <a:p>
            <a:pPr/>
            <a:r>
              <a:t>### AI增强SE适合的项目类型</a:t>
            </a:r>
          </a:p>
          <a:p>
            <a:pPr/>
            <a:r>
              <a:t>- ✅ **最适合**：Greenfield项目、API/SDK开发、工具类软件</a:t>
            </a:r>
          </a:p>
          <a:p>
            <a:pPr/>
            <a:r>
              <a:t>- ⚠️ **需谨慎**：核心业务逻辑、安全关键系统</a:t>
            </a:r>
          </a:p>
          <a:p>
            <a:pPr/>
            <a:r>
              <a:t>---</a:t>
            </a:r>
          </a:p>
          <a:p>
            <a:pPr/>
            <a:r>
              <a:t># Part 4: SQLRustGo项目导论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 项目背景和目标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为什么选择数据库项目？</a:t>
            </a:r>
          </a:p>
          <a:p>
            <a:pPr/>
            <a:r>
              <a:t>- **核心系统**：数据库是软件系统的核心组件</a:t>
            </a:r>
          </a:p>
          <a:p>
            <a:pPr/>
            <a:r>
              <a:t>- **技术全面**：涵盖解析、优化、执行、存储等完整技术栈</a:t>
            </a:r>
          </a:p>
          <a:p>
            <a:pPr/>
            <a:r>
              <a:t>- **挑战适中**：复杂度适合教学，但不过于复杂</a:t>
            </a:r>
          </a:p>
          <a:p>
            <a:pPr/>
            <a:r>
              <a:t>### 为什么选择Rust？</a:t>
            </a:r>
          </a:p>
          <a:p>
            <a:pPr/>
            <a:r>
              <a:t>- **内存安全**：编译时保证内存安全</a:t>
            </a:r>
          </a:p>
          <a:p>
            <a:pPr/>
            <a:r>
              <a:t>- **高性能**：零成本抽象、无GC</a:t>
            </a:r>
          </a:p>
          <a:p>
            <a:pPr/>
            <a:r>
              <a:t>- **现代语言**：优秀的类型系统、模式匹配</a:t>
            </a:r>
          </a:p>
          <a:p>
            <a:pPr/>
            <a:r>
              <a:t>### 项目目标和应用场景</a:t>
            </a:r>
          </a:p>
          <a:p>
            <a:pPr/>
            <a:r>
              <a:t>- 构建一个功能完整的SQL数据库</a:t>
            </a:r>
          </a:p>
          <a:p>
            <a:pPr/>
            <a:r>
              <a:t>- 支持基本的CRUD操作</a:t>
            </a:r>
          </a:p>
          <a:p>
            <a:pPr/>
            <a:r>
              <a:t>- 适合嵌入式和边缘计算场景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 项目版本历程概览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版本演进</a:t>
            </a:r>
          </a:p>
          <a:p>
            <a:pPr/>
            <a:r>
              <a:t>```</a:t>
            </a:r>
          </a:p>
          <a:p>
            <a:pPr/>
            <a:r>
              <a:t>Draft（草稿）→ Alpha（内测）→ Beta（公测）→ RC（候选）→ Release（发布）</a:t>
            </a:r>
          </a:p>
          <a:p>
            <a:pPr/>
            <a:r>
              <a:t>```</a:t>
            </a:r>
          </a:p>
          <a:p>
            <a:pPr/>
            <a:r>
              <a:t>### 每个版本的特征和产物</a:t>
            </a:r>
          </a:p>
          <a:p>
            <a:pPr/>
            <a:r>
              <a:t>| 版本 | 特征 | 产物 |</a:t>
            </a:r>
          </a:p>
          <a:p>
            <a:pPr/>
            <a:r>
              <a:t>|------|------|------|</a:t>
            </a:r>
          </a:p>
          <a:p>
            <a:pPr/>
            <a:r>
              <a:t>| Draft | 快速原型、核心功能 | 实施计划、原型代码 |</a:t>
            </a:r>
          </a:p>
          <a:p>
            <a:pPr/>
            <a:r>
              <a:t>| Alpha | 功能完整、可运行 | 单元测试、文档 |</a:t>
            </a:r>
          </a:p>
          <a:p>
            <a:pPr/>
            <a:r>
              <a:t>| Beta | 功能稳定、用户测试 | 用户文档、测试计划 |</a:t>
            </a:r>
          </a:p>
          <a:p>
            <a:pPr/>
            <a:r>
              <a:t>| RC | 发布候选、质量门禁 | 门禁清单、验收文档 |</a:t>
            </a:r>
          </a:p>
          <a:p>
            <a:pPr/>
            <a:r>
              <a:t>| Release | 正式发布、生产就绪 | Release Notes、安装程序 |</a:t>
            </a:r>
          </a:p>
          <a:p>
            <a:pPr/>
            <a:r>
              <a:t>### 作为Greenfield项目的典型案例</a:t>
            </a:r>
          </a:p>
          <a:p>
            <a:pPr/>
            <a:r>
              <a:t>- 从零开始构建</a:t>
            </a:r>
          </a:p>
          <a:p>
            <a:pPr/>
            <a:r>
              <a:t>- 代码规模适中（预计10K-50K行）</a:t>
            </a:r>
          </a:p>
          <a:p>
            <a:pPr/>
            <a:r>
              <a:t>- 完全适合AI辅助开发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4.3 课程安排说明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上半学期：AI辅助设计与快速原型（第1-8周）</a:t>
            </a:r>
          </a:p>
          <a:p>
            <a:pPr/>
            <a:r>
              <a:t>- 第1-4周：软件工程基础 + UML建模</a:t>
            </a:r>
          </a:p>
          <a:p>
            <a:pPr/>
            <a:r>
              <a:t>- 第5-7周：架构设计 + 核心模块实现</a:t>
            </a:r>
          </a:p>
          <a:p>
            <a:pPr/>
            <a:r>
              <a:t>- 第8周：测试驱动开发 + Alpha版本</a:t>
            </a:r>
          </a:p>
          <a:p>
            <a:pPr/>
            <a:r>
              <a:t>### 下半学期：协同开发与工程治理（第9-16周）</a:t>
            </a:r>
          </a:p>
          <a:p>
            <a:pPr/>
            <a:r>
              <a:t>- 第9-12周：Git协作 + CI/CD + 性能优化</a:t>
            </a:r>
          </a:p>
          <a:p>
            <a:pPr/>
            <a:r>
              <a:t>- 第13-15周：安全扫描 + 发布流程 + 长期规划</a:t>
            </a:r>
          </a:p>
          <a:p>
            <a:pPr/>
            <a:r>
              <a:t>- 第16周：项目展示 + 职业发展</a:t>
            </a:r>
          </a:p>
          <a:p>
            <a:pPr/>
            <a:r>
              <a:t>### 考核方式</a:t>
            </a:r>
          </a:p>
          <a:p>
            <a:pPr/>
            <a:r>
              <a:t>- **过程性评价**：70%（作业、实验、参与度）</a:t>
            </a:r>
          </a:p>
          <a:p>
            <a:pPr/>
            <a:r>
              <a:t>- **终结性评价**：30%（期末项目、答辩）</a:t>
            </a:r>
          </a:p>
          <a:p>
            <a:pPr/>
            <a:r>
              <a:t>---</a:t>
            </a:r>
          </a:p>
          <a:p>
            <a:pPr/>
            <a:r>
              <a:t># 课堂互动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讨论问题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你认为软件开发中最大的挑战是什么？</a:t>
            </a:r>
          </a:p>
          <a:p>
            <a:pPr/>
            <a:r>
              <a:t>2. 你使用过哪些AI编程工具？效果如何？</a:t>
            </a:r>
          </a:p>
          <a:p>
            <a:pPr/>
            <a:r>
              <a:t>3. SQLRustGo属于什么类型的项目？为什么适合AI辅助开发？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预习任务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安装Rust环境</a:t>
            </a:r>
          </a:p>
          <a:p>
            <a:pPr/>
            <a:r>
              <a:t>- 安装TRAE IDE</a:t>
            </a:r>
          </a:p>
          <a:p>
            <a:pPr/>
            <a:r>
              <a:t>- 熟悉Git基本操作</a:t>
            </a:r>
          </a:p>
          <a:p>
            <a:pPr/>
            <a:r>
              <a:t>---</a:t>
            </a:r>
          </a:p>
          <a:p>
            <a:pPr/>
            <a:r>
              <a:t># 课后阅读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推荐阅读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**《人月神话》** - Frederick Brooks（软件工程经典）</a:t>
            </a:r>
          </a:p>
          <a:p>
            <a:pPr/>
            <a:r>
              <a:t>2. **《敏捷软件开发宣言》**（2001）</a:t>
            </a:r>
          </a:p>
          <a:p>
            <a:pPr/>
            <a:r>
              <a:t>3. **GitHub Copilot官方文档**</a:t>
            </a:r>
          </a:p>
          <a:p>
            <a:pPr/>
            <a:r>
              <a:t>4. **Claude Code使用指南**</a:t>
            </a:r>
          </a:p>
          <a:p>
            <a:pPr/>
            <a:r>
              <a:t>---</a:t>
            </a:r>
          </a:p>
          <a:p>
            <a:pPr/>
            <a:r>
              <a:t>&lt;!-- _class: lead --&gt;</a:t>
            </a:r>
          </a:p>
          <a:p>
            <a:pPr/>
            <a:r>
              <a:t># 谢谢！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下节课：结构化设计与UML基础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